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24384000" cy="13716000"/>
  <p:notesSz cx="13716000" cy="2438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r">
              <a:buNone/>
            </a:pPr>
            <a:fld id="{5D113327-3399-4867-A996-D136985A17E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[1/23 · 0:17] 표지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안녕하세요. Bean 팀 고광근입니다.</a:t>
            </a:r>
          </a:p>
          <a:p>
            <a:r>
              <a:t>저희가 4주 동안 만든 건 온프레미스와 AWS를 하나로 묶은 하이브리드 보안 플랫폼입니다.</a:t>
            </a:r>
          </a:p>
          <a:p>
            <a:r>
              <a:t>무엇을 어디까지 실제로 돌려봤는지 말씀드리겠습니다.</a:t>
            </a:r>
          </a:p>
        </p:txBody>
      </p:sp>
      <p:sp>
        <p:nvSpPr>
          <p:cNvPr id="3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1BD990-5012-4C7D-A695-D09B146377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[2/23 · 0:20] 목차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오늘 순서는 다섯 개입니다.</a:t>
            </a:r>
          </a:p>
          <a:p>
            <a:r>
              <a:t>주제를 고른 이유와 팀 구성은 짧게 짚고, 네 번째 수행 결과에 시간을 가장 많이 쓰겠습니다.</a:t>
            </a:r>
          </a:p>
          <a:p>
            <a:r>
              <a:t>구조를 먼저 보여드리고 그 위에 접근 통제와 공급망, 모니터링을 얹는 순서로 가겠습니다.</a:t>
            </a:r>
          </a:p>
        </p:txBody>
      </p:sp>
      <p:sp>
        <p:nvSpPr>
          <p:cNvPr id="3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E4BC6F-3D72-4F0A-9D86-CB37B645BF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[3/23 · 0:40] 침해 사례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계기는 실제 사고들입니다.</a:t>
            </a:r>
          </a:p>
          <a:p>
            <a:r>
              <a:t>쿠팡은 전직 내부 직원 한 명이 회원 3,370만 건을 빼냈습니다. 외부 침입이 아니라 권한을 이미 가진 사람이었고요.</a:t>
            </a:r>
          </a:p>
          <a:p>
            <a:r>
              <a:t>패스트캠퍼스는 GitHub 마스터 계정 키값 하나가 탈취되면서 뚫렸습니다.</a:t>
            </a:r>
          </a:p>
          <a:p>
            <a:r>
              <a:t>KT는 불법 초소형 기지국으로 가입자 식별번호가 샜고,</a:t>
            </a:r>
          </a:p>
          <a:p>
            <a:r>
              <a:t>YES24는 랜섬웨어로 멈춘 뒤 두 달 만에 또 맞았습니다.</a:t>
            </a:r>
          </a:p>
          <a:p>
            <a:r>
              <a:t>원인은 다 다른데, 결과를 가른 건 권한과 비밀 정보, 복구 준비였습니다.</a:t>
            </a:r>
          </a:p>
        </p:txBody>
      </p:sp>
      <p:sp>
        <p:nvSpPr>
          <p:cNvPr id="39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B026AD-3D32-486F-854E-4609E56837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[4/23 · 0:27] 문제 정의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그래서 세 가지를 기준으로 잡았습니다.</a:t>
            </a:r>
          </a:p>
          <a:p>
            <a:r>
              <a:t>접근 권한을 한 곳에서 관리할 수 있는지, 비밀 정보가 코드에 남지 않는지,</a:t>
            </a:r>
          </a:p>
          <a:p>
            <a:r>
              <a:t>장애가 났을 때 되짚을 기록이 남는지입니다.</a:t>
            </a:r>
          </a:p>
          <a:p>
            <a:r>
              <a:t>이걸 온프레미스에서만 풀면 반쪽이라고 봤습니다.</a:t>
            </a:r>
          </a:p>
          <a:p>
            <a:r>
              <a:t>실제 환경이 하이브리드니까 저희도 양쪽을 같은 규칙으로 묶기로 했습니다.</a:t>
            </a:r>
          </a:p>
        </p:txBody>
      </p:sp>
      <p:sp>
        <p:nvSpPr>
          <p:cNvPr id="3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39BAC6-05B9-4A18-9716-CD228BA84F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[5/23 · 0:35] 팀 구성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팀은 다섯 명입니다.</a:t>
            </a:r>
          </a:p>
          <a:p>
            <a:r>
              <a:t>저는 OPNsense와 Proxmox, k3s 기반과 공급망, 통합 인증을 맡았습니다.</a:t>
            </a:r>
          </a:p>
          <a:p>
            <a:r>
              <a:t>이진희 님이 Prometheus와 Grafana로 관측과 알림을, 박재윤 님이 AWS VPC와 CIEM, CSPM 거버넌스를,</a:t>
            </a:r>
          </a:p>
          <a:p>
            <a:r>
              <a:t>박수근 님이 OpenTofu로 EKS 인프라와 테스트 코드를,</a:t>
            </a:r>
          </a:p>
          <a:p>
            <a:r>
              <a:t>정주헌 님이 웹서비스 설계와 접근 시나리오 검증을 맡았습니다.</a:t>
            </a:r>
          </a:p>
        </p:txBody>
      </p:sp>
      <p:sp>
        <p:nvSpPr>
          <p:cNvPr id="3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7E6F94-232C-4D66-BBCA-29218FB7A0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[6/23 · 0:24] 4주 일정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기간은 4주였습니다.</a:t>
            </a:r>
          </a:p>
          <a:p>
            <a:r>
              <a:t>첫 주는 아키텍처 설계와 역할 배분, 2주차에 인프라를 올리면서 보안 단계를 잡았습니다.</a:t>
            </a:r>
          </a:p>
          <a:p>
            <a:r>
              <a:t>3주차에 각자 만든 걸 붙였는데 사실 이때 오류가 제일 많이 나왔습니다.</a:t>
            </a:r>
          </a:p>
          <a:p>
            <a:r>
              <a:t>마지막 주에 통합 테스트와 데모 영상, 발표 자료를 정리했습니다.</a:t>
            </a:r>
          </a:p>
        </p:txBody>
      </p:sp>
      <p:sp>
        <p:nvSpPr>
          <p:cNvPr id="4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57A782-8F1B-449D-9236-458CF4AD76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[7/23 · 0:46] 물리 경계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이 그림 한 장이 저희 플랫폼 전부입니다. 앞으로 네 장은 같은 그림에서 보실 곳만 바뀝니다.</a:t>
            </a:r>
          </a:p>
          <a:p>
            <a:r>
              <a:t>먼저 들어오는 길인데요, 공개된 진입점은 NetBird 컨트롤 릴레이와 Cloudflare 뒤 SSO 프런트엔드 둘뿐입니다.</a:t>
            </a:r>
          </a:p>
          <a:p>
            <a:r>
              <a:t>나머지는 내부 DNS에서만 보이고, 그 앞은 OPNsense가 막습니다.</a:t>
            </a:r>
          </a:p>
          <a:p>
            <a:r>
              <a:t>안쪽은 전부 Proxmox 한 대 위에 있습니다. 이게 죽으면 다 죽습니다.</a:t>
            </a:r>
          </a:p>
          <a:p>
            <a:r>
              <a:t>그래서 그림에도 허용한 SPOF라고 적었는데, HA를 포기한 대신 다시 세우는 쪽에 시간을 썼습니다.</a:t>
            </a:r>
          </a:p>
          <a:p/>
          <a:p>
            <a:r>
              <a:t>※ 7~11장은 같은 그림이다. 첫 문장에서 이 사실을 먼저 말하고, 초록 테두리만 짚는다.</a:t>
            </a:r>
          </a:p>
        </p:txBody>
      </p:sp>
      <p:sp>
        <p:nvSpPr>
          <p:cNvPr id="4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576D99-30E1-4F2B-BF1B-1C5B4A0BD3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[8/23 · 0:36] 온프레미스 플랫폼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그 한 대 안에는 k3s 하나에 네 묶음이 올라가 있습니다.</a:t>
            </a:r>
          </a:p>
          <a:p>
            <a:r>
              <a:t>접근·인증, 공급망·배포, 탐지·사람 승인, 보호·복구입니다.</a:t>
            </a:r>
          </a:p>
          <a:p>
            <a:r>
              <a:t>아래 VM 네 개는 밖으로 뺐습니다.</a:t>
            </a:r>
          </a:p>
          <a:p>
            <a:r>
              <a:t>Postgres와 SeaweedFS S3, Warpgate, NetBird인데 상태를 가졌거나 권한이 다릅니다.</a:t>
            </a:r>
          </a:p>
          <a:p>
            <a:r>
              <a:t>장애 도메인을 나눈 건 아닙니다. 노드는 한 대니까요.</a:t>
            </a:r>
          </a:p>
          <a:p>
            <a:r>
              <a:t>업데이트와 권한, 복구 단위를 나눈 겁니다.</a:t>
            </a:r>
          </a:p>
        </p:txBody>
      </p:sp>
      <p:sp>
        <p:nvSpPr>
          <p:cNvPr id="4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CA942F-0FB2-495C-A297-7B3FE9D03B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[9/23 · 0:44] HR System 워크로드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오른쪽 AWS입니다. 대표 워크로드는 HR System 하나고요.</a:t>
            </a:r>
          </a:p>
          <a:p>
            <a:r>
              <a:t>EKS는 private endpoint로 열었고, 안에 포털 화면인 frontend와</a:t>
            </a:r>
          </a:p>
          <a:p>
            <a:r>
              <a:t>직원 API employee-service, 관리 API hr-service가 있습니다.</a:t>
            </a:r>
          </a:p>
          <a:p>
            <a:r>
              <a:t>셋 다 internal ALB 뒤라 인터넷에서 직접 닿지 않고, 데이터는 private 서브넷 Aurora로 들어갑니다.</a:t>
            </a:r>
          </a:p>
          <a:p>
            <a:r>
              <a:t>권한은 AWS 자원 쪽은 IRSA가, DB 접속 정보는 Secrets Manager가 맡습니다.</a:t>
            </a:r>
          </a:p>
        </p:txBody>
      </p:sp>
      <p:sp>
        <p:nvSpPr>
          <p:cNvPr id="41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A8518F-973B-4C64-BED6-7CCBD26581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[10/23 · 0:35] EKS까지의 보안 흐름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사용자는 어떻게 여기까지 갈까요. 초록색 길이 그 경로입니다.</a:t>
            </a:r>
          </a:p>
          <a:p>
            <a:r>
              <a:t>HR 포털을 열면 온프레미스의 Traefik과 Pomerium을 먼저 지나면서 Keycloak 신원을 확인받고,</a:t>
            </a:r>
          </a:p>
          <a:p>
            <a:r>
              <a:t>그 다음 Site-to-Site VPN을 타고 AWS로 들어갑니다.</a:t>
            </a:r>
          </a:p>
          <a:p>
            <a:r>
              <a:t>중요한 건 두 영역을 잇는 사설 경로가 이 VPN 하나뿐이라는 점입니다.</a:t>
            </a:r>
          </a:p>
          <a:p>
            <a:r>
              <a:t>HR 서비스는 인터넷 쪽 입구가 없습니다.</a:t>
            </a:r>
          </a:p>
        </p:txBody>
      </p:sp>
      <p:sp>
        <p:nvSpPr>
          <p:cNvPr id="41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5615DF-B7A6-4F0D-AE0A-DBF5A40632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[13/23 · 0:41] 온프레미스 보안 ②</a:t>
            </a:r>
          </a:p>
          <a:p/>
          <a:p>
            <a:r>
              <a:t>나머지 넷은 안쪽을 지킵니다.</a:t>
            </a:r>
          </a:p>
          <a:p>
            <a:r>
              <a:t>CrowdSec은 웹 앞단에서 SQL 인젝션이나 XSS를 막습니다. OWASP 코어 룰셋을 붙였고요.</a:t>
            </a:r>
          </a:p>
          <a:p>
            <a:r>
              <a:t>Warpgate는 특권 세션 게이트웨이입니다.</a:t>
            </a:r>
          </a:p>
          <a:p>
            <a:r>
              <a:t>SSH나 DB에 직접 붙지 않고 전부 여기를 거치는데, MFA를 넘어야 세션이 열립니다.</a:t>
            </a:r>
          </a:p>
          <a:p>
            <a:r>
              <a:t>Wazuh는 SIEM 겸 XDR을 맡고요.</a:t>
            </a:r>
          </a:p>
          <a:p>
            <a:r>
              <a:t>Vault는 DB 비밀번호나 API 키를 코드에 남기지 않고 중앙에서 주입합니다.</a:t>
            </a:r>
          </a:p>
          <a:p>
            <a:r>
              <a:t>아까 본 키값 탈취를 막는 자리입니다.</a:t>
            </a:r>
          </a:p>
          <a:p/>
          <a:p>
            <a:r>
              <a:t>※ 시간이 밀리면 12·13장을 각각 10초씩 줄인다. 14·15장은 줄이지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[12/23 · 0:41] 온프레미스 보안 ①</a:t>
            </a:r>
          </a:p>
          <a:p/>
          <a:p>
            <a:r>
              <a:t>그 위에 올린 도구입니다. 먼저 접근 쪽인데요.</a:t>
            </a:r>
          </a:p>
          <a:p>
            <a:r>
              <a:t>바깥 경계는 OPNsense가 1차로 막습니다.</a:t>
            </a:r>
          </a:p>
          <a:p>
            <a:r>
              <a:t>방화벽과 NAT, VLAN 분리, 내부 DNS가 여기 있고 Suricata도 붙어 있습니다.</a:t>
            </a:r>
          </a:p>
          <a:p>
            <a:r>
              <a:t>원격 접속은 NetBird로, 승인된 사용자와 기기만 암호화된 터널로 붙습니다.</a:t>
            </a:r>
          </a:p>
          <a:p>
            <a:r>
              <a:t>인증은 SSO를 Keycloak이 맡고, Pomerium이 서비스 앞단에서 매번 권한을 다시 확인합니다.</a:t>
            </a:r>
          </a:p>
          <a:p>
            <a:r>
              <a:t>한 번 로그인했다고 계속 통과시키지 않습니다.</a:t>
            </a:r>
          </a:p>
          <a:p/>
          <a:p>
            <a:r>
              <a:t>※ 시간이 밀리면 12·13장을 각각 10초씩 줄인다. 14·15장은 줄이지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[11/23 · 0:28] AWS 보안·관측</a:t>
            </a:r>
          </a:p>
          <a:p/>
          <a:p>
            <a:r>
              <a:t>AWS 안쪽 보안과 관측은 이 아래 블록입니다.</a:t>
            </a:r>
          </a:p>
          <a:p>
            <a:r>
              <a:t>GuardDuty가 위협을 잡고 Security Hub가 findings를 모읍니다.</a:t>
            </a:r>
          </a:p>
          <a:p>
            <a:r>
              <a:t>Config와 Access Analyzer가 구성과 권한을 계속 훑고요.</a:t>
            </a:r>
          </a:p>
          <a:p>
            <a:r>
              <a:t>로그는 CloudWatch와 Security Lake로 모여 Athena로 조회합니다.</a:t>
            </a:r>
          </a:p>
          <a:p/>
          <a:p>
            <a:r>
              <a:t>※ 11장(사람 승인)과 18장(자동 차단)의 범위 차이는 18장 마지막 두 줄이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[14/23 · 0:47] 접근 통제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접근 통제는 셋으로 쪼갰습니다. 누가 들어오는지, 어디까지 가는지, 무엇을 만지는지입니다.</a:t>
            </a:r>
          </a:p>
          <a:p>
            <a:r>
              <a:t>신원은 Keycloak 한 곳에서만 만듭니다. 일상 ID 다섯 개와 특권 ID 하나,</a:t>
            </a:r>
          </a:p>
          <a:p>
            <a:r>
              <a:t>여섯 개 전부 MFA를 걸었고 서비스마다 로컬 계정을 따로 만들지 않습니다.</a:t>
            </a:r>
          </a:p>
          <a:p>
            <a:r>
              <a:t>경로는 Pomerium입니다. Route마다 그룹을 다시 확인하고 Host와 Path 단위로 막습니다.</a:t>
            </a:r>
          </a:p>
          <a:p>
            <a:r>
              <a:t>마지막이 중요한데, Pomerium을 통과했다고 관리자 권한이 생기지는 않습니다.</a:t>
            </a:r>
          </a:p>
          <a:p>
            <a:r>
              <a:t>실제 권한은 애플리케이션이 다시 판단합니다.</a:t>
            </a:r>
          </a:p>
        </p:txBody>
      </p:sp>
      <p:sp>
        <p:nvSpPr>
          <p:cNvPr id="41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FE7A59-BE79-4A12-827E-2394E95BF4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[15/23 · 0:58] HR 품질·공급망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공급망이 가장 공을 들인 부분입니다. 코드가 뜨기까지 관문 여섯 개를 지납니다.</a:t>
            </a:r>
          </a:p>
          <a:p>
            <a:r>
              <a:t>Jenkins에서 테스트와 커버리지를 돌리고 SonarQube 게이트를 넘습니다.</a:t>
            </a:r>
          </a:p>
          <a:p>
            <a:r>
              <a:t>Trivy로 스캔해 SBOM을 뽑고 Cosign으로 서명합니다.</a:t>
            </a:r>
          </a:p>
          <a:p>
            <a:r>
              <a:t>통과한 이미지만 Harbor에 올라가고, 올라간 digest만 ECR로 복제됩니다.</a:t>
            </a:r>
          </a:p>
          <a:p>
            <a:r>
              <a:t>마지막에 EKS의 Kyverno가 서명을 다시 확인합니다.</a:t>
            </a:r>
          </a:p>
          <a:p>
            <a:r>
              <a:t>왼쪽이 실제로 끊긴 빌드입니다. 42번이 test and coverage gates에서 멈췄는데,</a:t>
            </a:r>
          </a:p>
          <a:p>
            <a:r>
              <a:t>뒤 단계가 그려지지도 않았습니다. 이미지 자체가 안 만들어진 겁니다.</a:t>
            </a:r>
          </a:p>
          <a:p>
            <a:r>
              <a:t>Argo CD는 이 관문을 다 통과한 digest만 선언에 씁니다.</a:t>
            </a:r>
          </a:p>
        </p:txBody>
      </p:sp>
      <p:sp>
        <p:nvSpPr>
          <p:cNvPr id="41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5A04D7-FFBB-4E29-8DB4-903640534D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[16/23 · 0:34] AWS 보안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AWS는 세 축입니다.</a:t>
            </a:r>
          </a:p>
          <a:p>
            <a:r>
              <a:t>네트워크는 인터넷과 맞닿는 자리에 ALB만 두고 NAT와 EKS 노드, RDS는 private 서브넷에 넣었습니다.</a:t>
            </a:r>
          </a:p>
          <a:p>
            <a:r>
              <a:t>밖에서 직접 부를 수 있는 게 없습니다.</a:t>
            </a:r>
          </a:p>
          <a:p>
            <a:r>
              <a:t>자격 증명은 영구 키를 만들지 않고, Keycloak OIDC를 연동해 STS 임시 토큰을 받아 씁니다.</a:t>
            </a:r>
          </a:p>
          <a:p>
            <a:r>
              <a:t>이어서 IRSA, CIEM, CSPM 순서로 보여드리겠습니다.</a:t>
            </a:r>
          </a:p>
        </p:txBody>
      </p:sp>
      <p:sp>
        <p:nvSpPr>
          <p:cNvPr id="42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D28D0F-8EB1-407E-92D5-7B91C4C634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[17/23 · 0:43] IRSA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먼저 Pod 권한입니다. EKS에서 흔한 실수가 노드 전체에 권한을 몰아주는 건데요.</a:t>
            </a:r>
          </a:p>
          <a:p>
            <a:r>
              <a:t>그러면 그 노드 Pod가 전부 같은 권한을 갖습니다.</a:t>
            </a:r>
          </a:p>
          <a:p>
            <a:r>
              <a:t>저희는 IRSA로 서비스 어카운트를 IAM OIDC에 연결해 Pod 단위로 역할을 붙였습니다.</a:t>
            </a:r>
          </a:p>
          <a:p>
            <a:r>
              <a:t>employee-service와 hr-service가 쓰는 권한이 다릅니다.</a:t>
            </a:r>
          </a:p>
          <a:p>
            <a:r>
              <a:t>Aurora나 Secrets Manager를 부를 때는 STS가 짧게 사는 임시 토큰을 내줍니다.</a:t>
            </a:r>
          </a:p>
          <a:p>
            <a:r>
              <a:t>이미지에 키를 넣을 일이 없습니다.</a:t>
            </a:r>
          </a:p>
        </p:txBody>
      </p:sp>
      <p:sp>
        <p:nvSpPr>
          <p:cNvPr id="42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03C1B0-3567-4243-AA0D-4CFBAB80D9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[18/23 · 0:43] CIEM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다음은 권한 관리입니다. 권한은 처음에 잘 줘도 시간이 지나면 늘어납니다.</a:t>
            </a:r>
          </a:p>
          <a:p>
            <a:r>
              <a:t>IAM Access Analyzer가 CloudTrail 로그를 분석해 일정 기간 안 쓴 권한을 찾아 지웁니다.</a:t>
            </a:r>
          </a:p>
          <a:p>
            <a:r>
              <a:t>반대로 EventBridge가 로그를 실시간으로 보다가 핵심 권한을 건드리는 시도가 잡히면</a:t>
            </a:r>
          </a:p>
          <a:p>
            <a:r>
              <a:t>Lambda가 바로 끊고 Slack으로 알립니다.</a:t>
            </a:r>
          </a:p>
          <a:p>
            <a:r>
              <a:t>온프레미스 탐지는 사람 승인 앞에서 멈추는데, CIEM만 권한 변조라는 좁은 조건에서 자동으로 끊게 뒀습니다.</a:t>
            </a:r>
          </a:p>
          <a:p/>
          <a:p>
            <a:r>
              <a:t>※ 질문이 들어오면 온프레미스 탐지는 사람 승인, AWS 권한 변조만 자동 차단이라고 답한다.</a:t>
            </a:r>
          </a:p>
        </p:txBody>
      </p:sp>
      <p:sp>
        <p:nvSpPr>
          <p:cNvPr id="42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05C488-71F4-4251-BB97-CB38FE5FBB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[19/23 · 0:40] CSPM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세 번째는 상시 감사입니다. 콘솔을 매번 볼 수는 없으니까요.</a:t>
            </a:r>
          </a:p>
          <a:p>
            <a:r>
              <a:t>Security Hub 보안 표준 점수를 지표로 잡고 계속 고쳐서 92%까지 올렸습니다.</a:t>
            </a:r>
          </a:p>
          <a:p>
            <a:r>
              <a:t>Critical과 High는 남기지 않는 게 기준입니다.</a:t>
            </a:r>
          </a:p>
          <a:p>
            <a:r>
              <a:t>EC2에 IMDSv2를 강제해 토큰 없이는 자격 증명을 못 꺼내게 했고, S3 버킷에는 MFA Delete를 켰습니다.</a:t>
            </a:r>
          </a:p>
          <a:p>
            <a:r>
              <a:t>오른쪽이 실제 알림인데, 리소스 이름과 확인할 쿼리까지 붙어서 Slack으로 옵니다.</a:t>
            </a:r>
          </a:p>
          <a:p/>
          <a:p>
            <a:r>
              <a:t>※ 오른쪽 알림 캡처에 AWS 계정 번호가 보인다. 외부 공개용으로 다시 쓸 때는 가린다.</a:t>
            </a:r>
          </a:p>
        </p:txBody>
      </p:sp>
      <p:sp>
        <p:nvSpPr>
          <p:cNvPr id="43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9C9109-046D-446B-AD79-834839E2A5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[20/23 · 0:39] 운영 모니터링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모니터링은 두 갈래입니다.</a:t>
            </a:r>
          </a:p>
          <a:p>
            <a:r>
              <a:t>잘 돌고 있는지 보는 운영 쪽, 공격받고 있는지 보는 보안 쪽인데 먼저 운영입니다.</a:t>
            </a:r>
          </a:p>
          <a:p>
            <a:r>
              <a:t>Grafana 대시보드 10종으로 자원 사용률과 Traefik 트래픽, 백업, Argo CD 동기화를 봅니다.</a:t>
            </a:r>
          </a:p>
          <a:p>
            <a:r>
              <a:t>로그는 Loki로 모아 error와 warn만 걸러 보고요.</a:t>
            </a:r>
          </a:p>
          <a:p>
            <a:r>
              <a:t>알림은 Prometheus 상시 경보 19개인데 이 중 9개가 백업입니다.</a:t>
            </a:r>
          </a:p>
          <a:p>
            <a:r>
              <a:t>설정이 아니라 어젯밤에 실제로 돌았는지를 봅니다.</a:t>
            </a:r>
          </a:p>
        </p:txBody>
      </p:sp>
      <p:sp>
        <p:nvSpPr>
          <p:cNvPr id="43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2A278E-3C51-4D2D-A5D2-0BC72FE61D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[21/23 · 0:53] 보안 모니터링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보안 쪽은 Wazuh로 호스트 7대의 파일 무결성과 rootcheck, 앱 로그 6종, NetBird 감사 이벤트를 모읍니다.</a:t>
            </a:r>
          </a:p>
          <a:p>
            <a:r>
              <a:t>왼쪽이 최근 24시간인데 21만 8천 건입니다.</a:t>
            </a:r>
          </a:p>
          <a:p>
            <a:r>
              <a:t>가운데가 잡힌 예인데, Proxmox 설정 디렉터리가 바뀌면 rule 550, level 7로 올라옵니다.</a:t>
            </a:r>
          </a:p>
          <a:p>
            <a:r>
              <a:t>여기서부터는 저희 규칙인데, 등급이 경로를 정합니다.</a:t>
            </a:r>
          </a:p>
          <a:p>
            <a:r>
              <a:t>level 7은 Shuffle이 정보를 붙여 사람 승인 앞에서 멈춥니다.</a:t>
            </a:r>
          </a:p>
          <a:p>
            <a:r>
              <a:t>계속할지 멈출지는 오른쪽처럼 사람이 고르고, level 14 이상만 즉시 통지됩니다.</a:t>
            </a:r>
          </a:p>
          <a:p>
            <a:r>
              <a:t>그래서 active_response는 0건입니다.</a:t>
            </a:r>
          </a:p>
          <a:p/>
          <a:p>
            <a:r>
              <a:t>※ rule 550은 Proxmox 설정 디렉터리 변경 감지다. 경로를 읽지 말고 화면을 가리킨다.</a:t>
            </a:r>
          </a:p>
        </p:txBody>
      </p:sp>
      <p:sp>
        <p:nvSpPr>
          <p:cNvPr id="43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4B1BFF-E1CF-4745-922E-2552CA44E4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[22/23 · 0:35] SWOT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/>
          <a:p>
            <a:r>
              <a:t>자체 평가입니다.</a:t>
            </a:r>
          </a:p>
          <a:p>
            <a:r>
              <a:t>강점은 다시 세우는 것과 서명을 확인하는 게 실제로 돈다는 점입니다.</a:t>
            </a:r>
          </a:p>
          <a:p>
            <a:r>
              <a:t>구성이 전부 Git에 있어서 지금 뭐가 떠 있는지 코드로 확인됩니다.</a:t>
            </a:r>
          </a:p>
          <a:p>
            <a:r>
              <a:t>약점은 물리 노드가 한 대라 HA가 없다는 거고, 실시간 대응도 부족해서 지금은 사람이 승인해야 움직입니다.</a:t>
            </a:r>
          </a:p>
          <a:p>
            <a:r>
              <a:t>노드가 한 대만 더 생기면 장애 도메인을 진짜로 나눌 수 있고, 그때 손댈 건 IaC 코드뿐입니다.</a:t>
            </a:r>
          </a:p>
        </p:txBody>
      </p:sp>
      <p:sp>
        <p:nvSpPr>
          <p:cNvPr id="44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386DF3-C700-490D-9920-C6299151E4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[23/23 · 0:19] 마무리</a:t>
            </a:r>
          </a:p>
          <a:p/>
          <a:p>
            <a:r>
              <a:t>정리하면 저희가 4주 동안 확인한 건 세 가지입니다.</a:t>
            </a:r>
          </a:p>
          <a:p>
            <a:r>
              <a:t>접근은 한 곳에서 통제되고, 검증을 못 넘은 이미지는 배포되지 않고, 이상 징후는 사람 앞까지 옵니다.</a:t>
            </a:r>
          </a:p>
          <a:p>
            <a:r>
              <a:t>발표 마치겠습니다. 감사합니다.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3.png"/><Relationship Id="rId6" Type="http://schemas.openxmlformats.org/officeDocument/2006/relationships/image" Target="../media/image13.png"/><Relationship Id="rId7" Type="http://schemas.openxmlformats.org/officeDocument/2006/relationships/image" Target="../media/image13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4.png"/><Relationship Id="rId11" Type="http://schemas.openxmlformats.org/officeDocument/2006/relationships/image" Target="../media/image14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6.png"/><Relationship Id="rId8" Type="http://schemas.openxmlformats.org/officeDocument/2006/relationships/image" Target="../media/image4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/>
          <p:nvPr/>
        </p:nvPicPr>
        <p:blipFill>
          <a:blip r:embed="rId1"/>
          <a:stretch/>
        </p:blipFill>
        <p:spPr>
          <a:xfrm>
            <a:off x="-12600" y="9918720"/>
            <a:ext cx="24407640" cy="38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3"/>
          <p:cNvPicPr/>
          <p:nvPr/>
        </p:nvPicPr>
        <p:blipFill>
          <a:blip r:embed="rId2"/>
          <a:stretch/>
        </p:blipFill>
        <p:spPr>
          <a:xfrm>
            <a:off x="15659280" y="7302600"/>
            <a:ext cx="1344240" cy="134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Picture 4"/>
          <p:cNvPicPr/>
          <p:nvPr/>
        </p:nvPicPr>
        <p:blipFill>
          <a:blip r:embed="rId3"/>
          <a:stretch/>
        </p:blipFill>
        <p:spPr>
          <a:xfrm>
            <a:off x="23050440" y="11315880"/>
            <a:ext cx="1344240" cy="241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5"/>
          <p:cNvPicPr/>
          <p:nvPr/>
        </p:nvPicPr>
        <p:blipFill>
          <a:blip r:embed="rId4"/>
          <a:stretch/>
        </p:blipFill>
        <p:spPr>
          <a:xfrm>
            <a:off x="15684480" y="7315200"/>
            <a:ext cx="1344240" cy="134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6"/>
          <p:cNvPicPr/>
          <p:nvPr/>
        </p:nvPicPr>
        <p:blipFill>
          <a:blip r:embed="rId5"/>
          <a:stretch/>
        </p:blipFill>
        <p:spPr>
          <a:xfrm>
            <a:off x="16967160" y="8610480"/>
            <a:ext cx="1344240" cy="134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Box 7"/>
          <p:cNvSpPr/>
          <p:nvPr/>
        </p:nvSpPr>
        <p:spPr>
          <a:xfrm>
            <a:off x="990720" y="939960"/>
            <a:ext cx="891360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k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t 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c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l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o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u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d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 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i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n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f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r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a</a:t>
            </a:r>
            <a:endParaRPr lang="en-US" sz="374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" name="TextBox 8"/>
          <p:cNvSpPr/>
          <p:nvPr/>
        </p:nvSpPr>
        <p:spPr>
          <a:xfrm>
            <a:off x="540000" y="10260000"/>
            <a:ext cx="19949760" cy="32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33440" rIns="0" bIns="433440" anchor="ctr">
            <a:noAutofit/>
          </a:bodyPr>
          <a:p>
            <a:pPr defTabSz="914400">
              <a:lnSpc>
                <a:spcPct val="83000"/>
              </a:lnSpc>
            </a:pPr>
            <a:r>
              <a:rPr lang="en-US" sz="12000" b="0" u="none" spc="-400" strike="noStrike">
                <a:solidFill>
                  <a:srgbClr val="FFFFFF"/>
                </a:solidFill>
                <a:effectLst/>
                <a:uFillTx/>
                <a:latin typeface="Mattone Bold"/>
                <a:ea typeface="Mattone Bold"/>
              </a:rPr>
              <a:t>Bea</a:t>
            </a:r>
            <a:r>
              <a:rPr lang="en-US" sz="12000" b="0" u="none" spc="-400" strike="noStrike">
                <a:solidFill>
                  <a:srgbClr val="FFFFFF"/>
                </a:solidFill>
                <a:effectLst/>
                <a:uFillTx/>
                <a:latin typeface="Mattone Bold"/>
                <a:ea typeface="Mattone Bold"/>
              </a:rPr>
              <a:t>n </a:t>
            </a:r>
            <a:r>
              <a:rPr lang="en-US" sz="12000" b="0" u="none" spc="-400" strike="noStrike">
                <a:solidFill>
                  <a:srgbClr val="FFFFFF"/>
                </a:solidFill>
                <a:effectLst/>
                <a:uFillTx/>
                <a:latin typeface="Mattone Bold"/>
                <a:ea typeface="Mattone Bold"/>
              </a:rPr>
              <a:t>Tea</a:t>
            </a:r>
            <a:r>
              <a:rPr lang="en-US" sz="12000" b="0" u="none" spc="-400" strike="noStrike">
                <a:solidFill>
                  <a:srgbClr val="FFFFFF"/>
                </a:solidFill>
                <a:effectLst/>
                <a:uFillTx/>
                <a:latin typeface="Mattone Bold"/>
                <a:ea typeface="Mattone Bold"/>
              </a:rPr>
              <a:t>m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7" name="Picture 9"/>
          <p:cNvPicPr/>
          <p:nvPr/>
        </p:nvPicPr>
        <p:blipFill>
          <a:blip r:embed="rId6"/>
          <a:stretch/>
        </p:blipFill>
        <p:spPr>
          <a:xfrm>
            <a:off x="14554080" y="12281040"/>
            <a:ext cx="8215200" cy="49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Box 10"/>
          <p:cNvSpPr/>
          <p:nvPr/>
        </p:nvSpPr>
        <p:spPr>
          <a:xfrm>
            <a:off x="1588320" y="2329560"/>
            <a:ext cx="13530600" cy="41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16000"/>
              </a:lnSpc>
            </a:pP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온프</a:t>
            </a: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레미</a:t>
            </a: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스–</a:t>
            </a:r>
            <a:r>
              <a:rPr lang="en-US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AW</a:t>
            </a:r>
            <a:r>
              <a:rPr lang="en-US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S</a:t>
            </a:r>
            <a:br>
              <a:rPr sz="11740"/>
            </a:b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하이</a:t>
            </a: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브리</a:t>
            </a: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드 </a:t>
            </a: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보안 </a:t>
            </a: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플랫</a:t>
            </a:r>
            <a:r>
              <a:rPr lang="ko-KR" sz="11740" b="0" u="none" strike="noStrike">
                <a:solidFill>
                  <a:srgbClr val="000000"/>
                </a:solidFill>
                <a:effectLst/>
                <a:uFillTx/>
                <a:latin typeface="Pretendard Black"/>
                <a:ea typeface="Pretendard Black"/>
              </a:rPr>
              <a:t>폼</a:t>
            </a:r>
            <a:endParaRPr lang="en-US" sz="1174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3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" name="Text 1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목차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" name="Text 47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23" name="Picture 11"/>
          <p:cNvPicPr/>
          <p:nvPr/>
        </p:nvPicPr>
        <p:blipFill>
          <a:blip r:embed="rId1"/>
          <a:stretch/>
        </p:blipFill>
        <p:spPr>
          <a:xfrm>
            <a:off x="3240000" y="11005560"/>
            <a:ext cx="17998560" cy="213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21"/>
          <p:cNvPicPr/>
          <p:nvPr/>
        </p:nvPicPr>
        <p:blipFill>
          <a:blip r:embed="rId2"/>
          <a:stretch/>
        </p:blipFill>
        <p:spPr>
          <a:xfrm>
            <a:off x="3240000" y="8852040"/>
            <a:ext cx="17998560" cy="213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23"/>
          <p:cNvPicPr/>
          <p:nvPr/>
        </p:nvPicPr>
        <p:blipFill>
          <a:blip r:embed="rId3"/>
          <a:stretch/>
        </p:blipFill>
        <p:spPr>
          <a:xfrm>
            <a:off x="3240000" y="6681240"/>
            <a:ext cx="17998560" cy="213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24"/>
          <p:cNvPicPr/>
          <p:nvPr/>
        </p:nvPicPr>
        <p:blipFill>
          <a:blip r:embed="rId4"/>
          <a:stretch/>
        </p:blipFill>
        <p:spPr>
          <a:xfrm>
            <a:off x="3240000" y="4510800"/>
            <a:ext cx="17998560" cy="213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25"/>
          <p:cNvPicPr/>
          <p:nvPr/>
        </p:nvPicPr>
        <p:blipFill>
          <a:blip r:embed="rId5"/>
          <a:stretch/>
        </p:blipFill>
        <p:spPr>
          <a:xfrm>
            <a:off x="3240000" y="2340000"/>
            <a:ext cx="17998560" cy="213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Box 12"/>
          <p:cNvSpPr/>
          <p:nvPr/>
        </p:nvSpPr>
        <p:spPr>
          <a:xfrm>
            <a:off x="10991160" y="11717280"/>
            <a:ext cx="826776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16920" anchor="ctr">
            <a:noAutofit/>
          </a:bodyPr>
          <a:p>
            <a:pPr algn="r" defTabSz="914400">
              <a:lnSpc>
                <a:spcPct val="107000"/>
              </a:lnSpc>
            </a:pP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자체 평가 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 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개선점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" name="TextBox 13"/>
          <p:cNvSpPr/>
          <p:nvPr/>
        </p:nvSpPr>
        <p:spPr>
          <a:xfrm>
            <a:off x="4092840" y="11628360"/>
            <a:ext cx="5434560" cy="90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1960" rIns="0" bIns="2196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5. </a:t>
            </a:r>
            <a:r>
              <a:rPr lang="ko-KR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자체 평가 및 향후 계획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" name="TextBox 14"/>
          <p:cNvSpPr/>
          <p:nvPr/>
        </p:nvSpPr>
        <p:spPr>
          <a:xfrm>
            <a:off x="10991160" y="9563760"/>
            <a:ext cx="8267760" cy="70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16920" anchor="ctr">
            <a:noAutofit/>
          </a:bodyPr>
          <a:p>
            <a:pPr algn="r" defTabSz="914400">
              <a:lnSpc>
                <a:spcPct val="107000"/>
              </a:lnSpc>
            </a:pP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구현 결과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 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주요기능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기술 적용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" name="TextBox 15"/>
          <p:cNvSpPr/>
          <p:nvPr/>
        </p:nvSpPr>
        <p:spPr>
          <a:xfrm>
            <a:off x="4092840" y="9457560"/>
            <a:ext cx="4871160" cy="90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1960" rIns="0" bIns="2196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4. </a:t>
            </a:r>
            <a:r>
              <a:rPr lang="ko-KR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프로젝트 수행 결과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" name="TextBox 16"/>
          <p:cNvSpPr/>
          <p:nvPr/>
        </p:nvSpPr>
        <p:spPr>
          <a:xfrm>
            <a:off x="10991160" y="7393320"/>
            <a:ext cx="8267760" cy="70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16920" anchor="ctr">
            <a:noAutofit/>
          </a:bodyPr>
          <a:p>
            <a:pPr algn="r" defTabSz="914400">
              <a:lnSpc>
                <a:spcPct val="107000"/>
              </a:lnSpc>
            </a:pP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프로젝트 기간 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 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단계별 일정 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 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기술 선정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" name="TextBox 2"/>
          <p:cNvSpPr/>
          <p:nvPr/>
        </p:nvSpPr>
        <p:spPr>
          <a:xfrm>
            <a:off x="4092840" y="7286400"/>
            <a:ext cx="7216560" cy="9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1960" rIns="0" bIns="2196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3. </a:t>
            </a:r>
            <a:r>
              <a:rPr lang="ko-KR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프로젝트 수행 계획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" name="TextBox 3"/>
          <p:cNvSpPr/>
          <p:nvPr/>
        </p:nvSpPr>
        <p:spPr>
          <a:xfrm>
            <a:off x="10991160" y="5222520"/>
            <a:ext cx="8267760" cy="70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16920" anchor="ctr">
            <a:noAutofit/>
          </a:bodyPr>
          <a:p>
            <a:pPr algn="r" defTabSz="914400">
              <a:lnSpc>
                <a:spcPct val="107000"/>
              </a:lnSpc>
            </a:pP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팀원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 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담당 업무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" name="TextBox 19"/>
          <p:cNvSpPr/>
          <p:nvPr/>
        </p:nvSpPr>
        <p:spPr>
          <a:xfrm>
            <a:off x="4092840" y="5133240"/>
            <a:ext cx="6257160" cy="90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1960" rIns="0" bIns="2196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2. </a:t>
            </a:r>
            <a:r>
              <a:rPr lang="ko-KR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프로젝트 팀 구성 및 역할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" name="TextBox 4"/>
          <p:cNvSpPr/>
          <p:nvPr/>
        </p:nvSpPr>
        <p:spPr>
          <a:xfrm>
            <a:off x="10991160" y="3051720"/>
            <a:ext cx="826776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16920" anchor="ctr">
            <a:noAutofit/>
          </a:bodyPr>
          <a:p>
            <a:pPr algn="r" defTabSz="914400">
              <a:lnSpc>
                <a:spcPct val="107000"/>
              </a:lnSpc>
            </a:pP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선정 배경 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 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위협 분석 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 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기대 효과 </a:t>
            </a:r>
            <a:r>
              <a:rPr lang="en-US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/ </a:t>
            </a:r>
            <a:r>
              <a:rPr lang="ko-KR" sz="300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전체 아키텍처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" name="TextBox 5"/>
          <p:cNvSpPr/>
          <p:nvPr/>
        </p:nvSpPr>
        <p:spPr>
          <a:xfrm>
            <a:off x="4092840" y="2962440"/>
            <a:ext cx="6257160" cy="90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1960" rIns="0" bIns="2196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1. </a:t>
            </a:r>
            <a:r>
              <a:rPr lang="ko-KR" sz="40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프로젝트 개요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0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1. 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프로젝트 개요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1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42" name="Picture 10"/>
          <p:cNvPicPr/>
          <p:nvPr/>
        </p:nvPicPr>
        <p:blipFill>
          <a:blip r:embed="rId1"/>
          <a:stretch/>
        </p:blipFill>
        <p:spPr>
          <a:xfrm>
            <a:off x="322200" y="2878920"/>
            <a:ext cx="9396360" cy="102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3" name="Table 7"/>
          <p:cNvGraphicFramePr/>
          <p:nvPr/>
        </p:nvGraphicFramePr>
        <p:xfrm>
          <a:off x="10372320" y="2676240"/>
          <a:ext cx="12990600" cy="10121760"/>
        </p:xfrm>
        <a:graphic>
          <a:graphicData uri="http://schemas.openxmlformats.org/drawingml/2006/table">
            <a:tbl>
              <a:tblPr/>
              <a:tblGrid>
                <a:gridCol w="3652920"/>
                <a:gridCol w="9338040"/>
              </a:tblGrid>
              <a:tr h="991440">
                <a:tc>
                  <a:txBody>
                    <a:bodyPr lIns="25200" tIns="25200" rIns="25200" bIns="25200" anchor="ctr">
                      <a:noAutofit/>
                    </a:bodyPr>
                    <a:p>
                      <a:pPr algn="ctr" defTabSz="914400">
                        <a:lnSpc>
                          <a:spcPct val="116000"/>
                        </a:lnSpc>
                      </a:pPr>
                      <a:r>
                        <a:rPr lang="ko-KR" sz="253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구분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25200" marR="25200" marT="25200" marB="252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63360">
                      <a:solidFill>
                        <a:srgbClr val="15E954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634680" tIns="25200" rIns="634680" bIns="25200" anchor="ctr">
                      <a:noAutofit/>
                    </a:bodyPr>
                    <a:p>
                      <a:pPr algn="ctr" defTabSz="914400">
                        <a:lnSpc>
                          <a:spcPct val="116000"/>
                        </a:lnSpc>
                      </a:pPr>
                      <a:r>
                        <a:rPr lang="ko-KR" sz="253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주요내용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634680" marR="634680" marT="25200" marB="252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63360">
                      <a:solidFill>
                        <a:srgbClr val="15E954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744200">
                <a:tc>
                  <a:txBody>
                    <a:bodyPr lIns="25200" tIns="25200" rIns="25200" bIns="25200" anchor="ctr">
                      <a:noAutofit/>
                    </a:bodyPr>
                    <a:p>
                      <a:pPr algn="ctr" defTabSz="914400">
                        <a:lnSpc>
                          <a:spcPct val="116000"/>
                        </a:lnSpc>
                      </a:pPr>
                      <a:r>
                        <a:rPr lang="ko-KR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쿠팡개인정보 대규모 유출 사건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25200" marR="25200" marT="25200" marB="252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634680" tIns="9000" rIns="634680" bIns="9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2025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년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11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월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,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전직 내부 직원에 의해 쿠팡 회원 약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3,370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만 건의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 defTabSz="914400">
                        <a:lnSpc>
                          <a:spcPct val="124000"/>
                        </a:lnSpc>
                      </a:pP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성명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·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주소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·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연락처가 대량으로 유출된 사태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.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634680" marR="634680" marT="9000" marB="90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959480">
                <a:tc>
                  <a:txBody>
                    <a:bodyPr lIns="25200" tIns="25200" rIns="25200" bIns="25200" anchor="ctr">
                      <a:noAutofit/>
                    </a:bodyPr>
                    <a:p>
                      <a:pPr algn="ctr" defTabSz="914400">
                        <a:lnSpc>
                          <a:spcPct val="116000"/>
                        </a:lnSpc>
                      </a:pPr>
                      <a:r>
                        <a:rPr lang="ko-KR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패스트캠퍼스 유출 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 algn="ctr" defTabSz="914400">
                        <a:lnSpc>
                          <a:spcPct val="116000"/>
                        </a:lnSpc>
                      </a:pPr>
                      <a:r>
                        <a:rPr lang="ko-KR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사건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25200" marR="25200" marT="25200" marB="252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634680" tIns="9000" rIns="634680" bIns="9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2026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년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6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월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,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사용 중이던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GitHub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서비스의 마스터 계정 키값이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불상의 시점에 탈취돼 자사 서비스에 최초 침입이 이뤄진 것으로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 defTabSz="914400">
                        <a:lnSpc>
                          <a:spcPct val="124000"/>
                        </a:lnSpc>
                      </a:pP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파악됐다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634680" marR="634680" marT="9000" marB="90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431440">
                <a:tc>
                  <a:txBody>
                    <a:bodyPr lIns="25200" tIns="25200" rIns="25200" bIns="25200" anchor="ctr">
                      <a:noAutofit/>
                    </a:bodyPr>
                    <a:p>
                      <a:pPr algn="ctr" defTabSz="914400">
                        <a:lnSpc>
                          <a:spcPct val="116000"/>
                        </a:lnSpc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KT </a:t>
                      </a:r>
                      <a:r>
                        <a:rPr lang="ko-KR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고객 무단 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 algn="ctr" defTabSz="914400">
                        <a:lnSpc>
                          <a:spcPct val="116000"/>
                        </a:lnSpc>
                      </a:pPr>
                      <a:r>
                        <a:rPr lang="ko-KR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소액결제 침해 사고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25200" marR="25200" marT="25200" marB="252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634680" tIns="9000" rIns="634680" bIns="9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2025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년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8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월부터 수도권 일부에서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KT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이동통신망 고객의 휴대폰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소액결제가 무단으로 이뤄졌고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,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조사 결과 불법 초소형 기지국을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 defTabSz="914400">
                        <a:lnSpc>
                          <a:spcPct val="124000"/>
                        </a:lnSpc>
                      </a:pP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이용한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IMEI · IMSI ·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전화번호 유출이 드러났다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634680" marR="634680" marT="9000" marB="90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14200">
                <a:tc>
                  <a:txBody>
                    <a:bodyPr lIns="25200" tIns="25200" rIns="25200" bIns="25200" anchor="ctr">
                      <a:noAutofit/>
                    </a:bodyPr>
                    <a:p>
                      <a:pPr algn="ctr" defTabSz="914400">
                        <a:lnSpc>
                          <a:spcPct val="116000"/>
                        </a:lnSpc>
                      </a:pPr>
                      <a:r>
                        <a:rPr lang="en-US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YES24 </a:t>
                      </a:r>
                      <a:r>
                        <a:rPr lang="ko-KR" sz="3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Bold"/>
                          <a:ea typeface="Pretendard Bold"/>
                        </a:rPr>
                        <a:t>서비스 마비 사태</a:t>
                      </a:r>
                      <a:endParaRPr lang="en-US" sz="3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25200" marR="25200" marT="25200" marB="252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634680" tIns="9000" rIns="634680" bIns="9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2025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년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6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월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9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일 랜섬웨어 공격으로 인터넷 서점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YES24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의 고객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정보가 탈취되고 전체 서비스가 마비됐다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. 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두 달 뒤인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8</a:t>
                      </a: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월 </a:t>
                      </a:r>
                      <a:r>
                        <a:rPr lang="en-US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11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  <a:p>
                      <a:pPr defTabSz="914400">
                        <a:lnSpc>
                          <a:spcPct val="124000"/>
                        </a:lnSpc>
                      </a:pPr>
                      <a:r>
                        <a:rPr lang="ko-KR" sz="253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Regular"/>
                          <a:ea typeface="Pretendard Regular"/>
                        </a:rPr>
                        <a:t>일에도 같은 공격을 다시 받아 연쇄 피해가 이어졌다</a:t>
                      </a:r>
                      <a:endParaRPr lang="en-US" sz="25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ans CJK KR"/>
                      </a:endParaRPr>
                    </a:p>
                  </a:txBody>
                  <a:tcPr anchor="ctr" marL="634680" marR="634680" marT="9000" marB="9000">
                    <a:lnL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45" name="Shape 87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6" name="Text 40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1. 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프로젝트 개요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48" name="Picture 1"/>
          <p:cNvPicPr/>
          <p:nvPr/>
        </p:nvPicPr>
        <p:blipFill>
          <a:blip r:embed="rId1"/>
          <a:stretch/>
        </p:blipFill>
        <p:spPr>
          <a:xfrm>
            <a:off x="11544840" y="3835800"/>
            <a:ext cx="1293480" cy="12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Picture 7"/>
          <p:cNvPicPr/>
          <p:nvPr/>
        </p:nvPicPr>
        <p:blipFill>
          <a:blip r:embed="rId2">
            <a:alphaModFix amt="50000"/>
          </a:blip>
          <a:stretch/>
        </p:blipFill>
        <p:spPr>
          <a:xfrm rot="10800000">
            <a:off x="10212840" y="8726760"/>
            <a:ext cx="3960720" cy="50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Box 1"/>
          <p:cNvSpPr/>
          <p:nvPr/>
        </p:nvSpPr>
        <p:spPr>
          <a:xfrm>
            <a:off x="5004000" y="5423040"/>
            <a:ext cx="14374440" cy="27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ko-KR" sz="461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최근 대규모 서비스 장애와 개인정보 유출 사례를 분석한 결과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algn="ctr" defTabSz="914400">
              <a:lnSpc>
                <a:spcPct val="132000"/>
              </a:lnSpc>
            </a:pPr>
            <a:r>
              <a:rPr lang="ko-KR" sz="461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접근 권한 관리</a:t>
            </a:r>
            <a:r>
              <a:rPr lang="en-US" sz="461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, </a:t>
            </a:r>
            <a:r>
              <a:rPr lang="ko-KR" sz="461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비밀 정보 관리</a:t>
            </a:r>
            <a:r>
              <a:rPr lang="en-US" sz="461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, </a:t>
            </a:r>
            <a:r>
              <a:rPr lang="ko-KR" sz="461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장애 대응 및 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algn="ctr" defTabSz="914400">
              <a:lnSpc>
                <a:spcPct val="132000"/>
              </a:lnSpc>
            </a:pPr>
            <a:r>
              <a:rPr lang="ko-KR" sz="461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통합 모니터링의 중요성을 확인했습니다</a:t>
            </a:r>
            <a:r>
              <a:rPr lang="en-US" sz="461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.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1" name="TextBox 9"/>
          <p:cNvSpPr/>
          <p:nvPr/>
        </p:nvSpPr>
        <p:spPr>
          <a:xfrm>
            <a:off x="5308920" y="9588600"/>
            <a:ext cx="1405728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ko-KR" sz="500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이를 해결하기 위해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algn="ctr" defTabSz="914400">
              <a:lnSpc>
                <a:spcPct val="132000"/>
              </a:lnSpc>
            </a:pPr>
            <a:r>
              <a:rPr lang="en-US" sz="500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Hybrid Cloud </a:t>
            </a:r>
            <a:r>
              <a:rPr lang="ko-KR" sz="500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기반의 통합 보안 인프라를 구축했습니다</a:t>
            </a:r>
            <a:r>
              <a:rPr lang="en-US" sz="5000" b="0" u="none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.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15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53" name="Shape 24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4" name="Text 45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2. 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프로젝트 팀 구성 및 역할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5" name="Text 46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6" name="Shape 72"/>
          <p:cNvSpPr/>
          <p:nvPr/>
        </p:nvSpPr>
        <p:spPr>
          <a:xfrm>
            <a:off x="914400" y="3063240"/>
            <a:ext cx="4179960" cy="831924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7" name="Shape 73"/>
          <p:cNvSpPr/>
          <p:nvPr/>
        </p:nvSpPr>
        <p:spPr>
          <a:xfrm>
            <a:off x="914400" y="3063240"/>
            <a:ext cx="4179960" cy="2467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58" name="Text 52"/>
          <p:cNvSpPr/>
          <p:nvPr/>
        </p:nvSpPr>
        <p:spPr>
          <a:xfrm>
            <a:off x="1325880" y="3264480"/>
            <a:ext cx="33570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고광근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9" name="Text 71"/>
          <p:cNvSpPr/>
          <p:nvPr/>
        </p:nvSpPr>
        <p:spPr>
          <a:xfrm>
            <a:off x="1325880" y="4544640"/>
            <a:ext cx="33570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팀장 </a:t>
            </a:r>
            <a:r>
              <a:rPr lang="en-US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온프레미스 보안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0" name="Text 72"/>
          <p:cNvSpPr/>
          <p:nvPr/>
        </p:nvSpPr>
        <p:spPr>
          <a:xfrm>
            <a:off x="1325880" y="5943600"/>
            <a:ext cx="335700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OPNsense · Proxmox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k3s </a:t>
            </a:r>
            <a:r>
              <a:rPr lang="ko-KR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플랫폼 기반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1" name="Shape 74"/>
          <p:cNvSpPr/>
          <p:nvPr/>
        </p:nvSpPr>
        <p:spPr>
          <a:xfrm>
            <a:off x="914400" y="8641080"/>
            <a:ext cx="4179960" cy="27414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2" name="Text 73"/>
          <p:cNvSpPr/>
          <p:nvPr/>
        </p:nvSpPr>
        <p:spPr>
          <a:xfrm>
            <a:off x="1325880" y="8915400"/>
            <a:ext cx="3357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pc="99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한 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3" name="Text 74"/>
          <p:cNvSpPr/>
          <p:nvPr/>
        </p:nvSpPr>
        <p:spPr>
          <a:xfrm>
            <a:off x="1325880" y="9555480"/>
            <a:ext cx="33570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공급망과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통합 인증 보안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4" name="Shape 75"/>
          <p:cNvSpPr/>
          <p:nvPr/>
        </p:nvSpPr>
        <p:spPr>
          <a:xfrm>
            <a:off x="5507640" y="3063240"/>
            <a:ext cx="4179960" cy="831924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5" name="Shape 76"/>
          <p:cNvSpPr/>
          <p:nvPr/>
        </p:nvSpPr>
        <p:spPr>
          <a:xfrm>
            <a:off x="5507640" y="3063240"/>
            <a:ext cx="4179960" cy="2467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66" name="Text 75"/>
          <p:cNvSpPr/>
          <p:nvPr/>
        </p:nvSpPr>
        <p:spPr>
          <a:xfrm>
            <a:off x="5919120" y="3264480"/>
            <a:ext cx="33570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이진희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7" name="Text 76"/>
          <p:cNvSpPr/>
          <p:nvPr/>
        </p:nvSpPr>
        <p:spPr>
          <a:xfrm>
            <a:off x="5919120" y="4544640"/>
            <a:ext cx="33570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모니터링 </a:t>
            </a:r>
            <a:r>
              <a:rPr lang="en-US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대시보드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8" name="Text 77"/>
          <p:cNvSpPr/>
          <p:nvPr/>
        </p:nvSpPr>
        <p:spPr>
          <a:xfrm>
            <a:off x="5919120" y="5943600"/>
            <a:ext cx="335700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Prometheus · Grafana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Loki · Alertmanager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9" name="Shape 77"/>
          <p:cNvSpPr/>
          <p:nvPr/>
        </p:nvSpPr>
        <p:spPr>
          <a:xfrm>
            <a:off x="5507640" y="8641080"/>
            <a:ext cx="4179960" cy="27414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0" name="Text 78"/>
          <p:cNvSpPr/>
          <p:nvPr/>
        </p:nvSpPr>
        <p:spPr>
          <a:xfrm>
            <a:off x="5919120" y="8915400"/>
            <a:ext cx="3357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pc="99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한 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1" name="Text 79"/>
          <p:cNvSpPr/>
          <p:nvPr/>
        </p:nvSpPr>
        <p:spPr>
          <a:xfrm>
            <a:off x="5919120" y="9555480"/>
            <a:ext cx="33570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관측 대시보드와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상시 알림 채널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2" name="Shape 78"/>
          <p:cNvSpPr/>
          <p:nvPr/>
        </p:nvSpPr>
        <p:spPr>
          <a:xfrm>
            <a:off x="10101240" y="3063240"/>
            <a:ext cx="4179960" cy="831924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3" name="Shape 79"/>
          <p:cNvSpPr/>
          <p:nvPr/>
        </p:nvSpPr>
        <p:spPr>
          <a:xfrm>
            <a:off x="10101240" y="3063240"/>
            <a:ext cx="4179960" cy="2467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74" name="Text 80"/>
          <p:cNvSpPr/>
          <p:nvPr/>
        </p:nvSpPr>
        <p:spPr>
          <a:xfrm>
            <a:off x="10512720" y="3264480"/>
            <a:ext cx="33570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박재윤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5" name="Text 81"/>
          <p:cNvSpPr/>
          <p:nvPr/>
        </p:nvSpPr>
        <p:spPr>
          <a:xfrm>
            <a:off x="10512720" y="4544640"/>
            <a:ext cx="33570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AWS </a:t>
            </a: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보안 </a:t>
            </a:r>
            <a:r>
              <a:rPr lang="en-US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웹 서버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6" name="Text 82"/>
          <p:cNvSpPr/>
          <p:nvPr/>
        </p:nvSpPr>
        <p:spPr>
          <a:xfrm>
            <a:off x="10512720" y="5943600"/>
            <a:ext cx="335700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AWS </a:t>
            </a:r>
            <a:r>
              <a:rPr lang="ko-KR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보안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7" name="Shape 80"/>
          <p:cNvSpPr/>
          <p:nvPr/>
        </p:nvSpPr>
        <p:spPr>
          <a:xfrm>
            <a:off x="10101240" y="8641080"/>
            <a:ext cx="4179960" cy="27414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8" name="Text 83"/>
          <p:cNvSpPr/>
          <p:nvPr/>
        </p:nvSpPr>
        <p:spPr>
          <a:xfrm>
            <a:off x="10512720" y="8915400"/>
            <a:ext cx="3357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pc="99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한</a:t>
            </a:r>
            <a:r>
              <a:rPr lang="en-US" sz="1800" b="1" u="none" spc="99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 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9" name="Text 84"/>
          <p:cNvSpPr/>
          <p:nvPr/>
        </p:nvSpPr>
        <p:spPr>
          <a:xfrm>
            <a:off x="10512720" y="9555480"/>
            <a:ext cx="33570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AWS VPC, CIEM, CSPM</a:t>
            </a:r>
            <a:br>
              <a:rPr sz="2300"/>
            </a:b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및 거버넌스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0" name="Shape 81"/>
          <p:cNvSpPr/>
          <p:nvPr/>
        </p:nvSpPr>
        <p:spPr>
          <a:xfrm>
            <a:off x="14694480" y="3063240"/>
            <a:ext cx="4179960" cy="831924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1" name="Shape 82"/>
          <p:cNvSpPr/>
          <p:nvPr/>
        </p:nvSpPr>
        <p:spPr>
          <a:xfrm>
            <a:off x="14694480" y="3063240"/>
            <a:ext cx="4179960" cy="2467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82" name="Text 85"/>
          <p:cNvSpPr/>
          <p:nvPr/>
        </p:nvSpPr>
        <p:spPr>
          <a:xfrm>
            <a:off x="15105960" y="3264480"/>
            <a:ext cx="33570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박수근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3" name="Text 86"/>
          <p:cNvSpPr/>
          <p:nvPr/>
        </p:nvSpPr>
        <p:spPr>
          <a:xfrm>
            <a:off x="15105960" y="4544640"/>
            <a:ext cx="33570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AWS </a:t>
            </a: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인프라 </a:t>
            </a:r>
            <a:r>
              <a:rPr lang="en-US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IaC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4" name="Text 87"/>
          <p:cNvSpPr/>
          <p:nvPr/>
        </p:nvSpPr>
        <p:spPr>
          <a:xfrm>
            <a:off x="15105960" y="5943600"/>
            <a:ext cx="335700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OpenTofu </a:t>
            </a:r>
            <a:r>
              <a:rPr lang="ko-KR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선언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Amazon EKS </a:t>
            </a:r>
            <a:r>
              <a:rPr lang="ko-KR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인프라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4694480" y="8641080"/>
            <a:ext cx="4179960" cy="27414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6" name="Text 88"/>
          <p:cNvSpPr/>
          <p:nvPr/>
        </p:nvSpPr>
        <p:spPr>
          <a:xfrm>
            <a:off x="15105960" y="8915400"/>
            <a:ext cx="3357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pc="99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한 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7" name="Text 89"/>
          <p:cNvSpPr/>
          <p:nvPr/>
        </p:nvSpPr>
        <p:spPr>
          <a:xfrm>
            <a:off x="15105960" y="9555480"/>
            <a:ext cx="33570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AWS IaC </a:t>
            </a: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및 테스트 코드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8" name="Shape 84"/>
          <p:cNvSpPr/>
          <p:nvPr/>
        </p:nvSpPr>
        <p:spPr>
          <a:xfrm>
            <a:off x="19288080" y="3063240"/>
            <a:ext cx="4179960" cy="831924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9" name="Shape 85"/>
          <p:cNvSpPr/>
          <p:nvPr/>
        </p:nvSpPr>
        <p:spPr>
          <a:xfrm>
            <a:off x="19288080" y="3063240"/>
            <a:ext cx="4179960" cy="24670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90" name="Text 90"/>
          <p:cNvSpPr/>
          <p:nvPr/>
        </p:nvSpPr>
        <p:spPr>
          <a:xfrm>
            <a:off x="19699560" y="3264480"/>
            <a:ext cx="33570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정주헌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1" name="Text 91"/>
          <p:cNvSpPr/>
          <p:nvPr/>
        </p:nvSpPr>
        <p:spPr>
          <a:xfrm>
            <a:off x="19699560" y="4544640"/>
            <a:ext cx="33570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웹서비스 설계 </a:t>
            </a:r>
            <a:r>
              <a:rPr lang="en-US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19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보안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2" name="Text 92"/>
          <p:cNvSpPr/>
          <p:nvPr/>
        </p:nvSpPr>
        <p:spPr>
          <a:xfrm>
            <a:off x="19699560" y="5943600"/>
            <a:ext cx="335700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ko-KR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웹서비스 설계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ko-KR" sz="24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인증 흐름 정의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3" name="Shape 86"/>
          <p:cNvSpPr/>
          <p:nvPr/>
        </p:nvSpPr>
        <p:spPr>
          <a:xfrm>
            <a:off x="19288080" y="8641080"/>
            <a:ext cx="4179960" cy="27414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4" name="Text 93"/>
          <p:cNvSpPr/>
          <p:nvPr/>
        </p:nvSpPr>
        <p:spPr>
          <a:xfrm>
            <a:off x="19699560" y="8915400"/>
            <a:ext cx="3357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pc="99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한 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5" name="Text 94"/>
          <p:cNvSpPr/>
          <p:nvPr/>
        </p:nvSpPr>
        <p:spPr>
          <a:xfrm>
            <a:off x="19699560" y="9555480"/>
            <a:ext cx="33570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사용자</a:t>
            </a: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관리자 접근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ko-KR" sz="2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시나리오 정의와 검증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8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3. 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프로젝트 수행 계획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9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00" name="Picture 8"/>
          <p:cNvPicPr/>
          <p:nvPr/>
        </p:nvPicPr>
        <p:blipFill>
          <a:blip r:embed="rId1"/>
          <a:stretch/>
        </p:blipFill>
        <p:spPr>
          <a:xfrm>
            <a:off x="990720" y="4001040"/>
            <a:ext cx="23467680" cy="1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12"/>
          <p:cNvPicPr/>
          <p:nvPr/>
        </p:nvPicPr>
        <p:blipFill>
          <a:blip r:embed="rId2"/>
          <a:stretch/>
        </p:blipFill>
        <p:spPr>
          <a:xfrm>
            <a:off x="1003320" y="4001040"/>
            <a:ext cx="5535360" cy="1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13"/>
          <p:cNvPicPr/>
          <p:nvPr/>
        </p:nvPicPr>
        <p:blipFill>
          <a:blip r:embed="rId3"/>
          <a:stretch/>
        </p:blipFill>
        <p:spPr>
          <a:xfrm>
            <a:off x="12230280" y="4001040"/>
            <a:ext cx="5535360" cy="1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14"/>
          <p:cNvPicPr/>
          <p:nvPr/>
        </p:nvPicPr>
        <p:blipFill>
          <a:blip r:embed="rId4"/>
          <a:stretch/>
        </p:blipFill>
        <p:spPr>
          <a:xfrm>
            <a:off x="23151960" y="3835800"/>
            <a:ext cx="442800" cy="4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5"/>
          <p:cNvPicPr/>
          <p:nvPr/>
        </p:nvPicPr>
        <p:blipFill>
          <a:blip r:embed="rId5"/>
          <a:stretch/>
        </p:blipFill>
        <p:spPr>
          <a:xfrm>
            <a:off x="17640360" y="3835800"/>
            <a:ext cx="442800" cy="4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16"/>
          <p:cNvPicPr/>
          <p:nvPr/>
        </p:nvPicPr>
        <p:blipFill>
          <a:blip r:embed="rId6"/>
          <a:stretch/>
        </p:blipFill>
        <p:spPr>
          <a:xfrm>
            <a:off x="12026880" y="3835800"/>
            <a:ext cx="442800" cy="4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17"/>
          <p:cNvPicPr/>
          <p:nvPr/>
        </p:nvPicPr>
        <p:blipFill>
          <a:blip r:embed="rId7"/>
          <a:stretch/>
        </p:blipFill>
        <p:spPr>
          <a:xfrm>
            <a:off x="6426360" y="3835800"/>
            <a:ext cx="442800" cy="4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18"/>
          <p:cNvPicPr/>
          <p:nvPr/>
        </p:nvPicPr>
        <p:blipFill>
          <a:blip r:embed="rId8"/>
          <a:stretch/>
        </p:blipFill>
        <p:spPr>
          <a:xfrm>
            <a:off x="812880" y="3835800"/>
            <a:ext cx="442800" cy="4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19"/>
          <p:cNvPicPr/>
          <p:nvPr/>
        </p:nvPicPr>
        <p:blipFill>
          <a:blip r:embed="rId9"/>
          <a:stretch/>
        </p:blipFill>
        <p:spPr>
          <a:xfrm>
            <a:off x="17843400" y="4521600"/>
            <a:ext cx="5535360" cy="57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17"/>
          <p:cNvSpPr/>
          <p:nvPr/>
        </p:nvSpPr>
        <p:spPr>
          <a:xfrm>
            <a:off x="18478440" y="7823520"/>
            <a:ext cx="4392360" cy="17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데모영상 제작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4000"/>
              </a:lnSpc>
            </a:pP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ppt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제작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통합 테스트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0" name="TextBox 18"/>
          <p:cNvSpPr/>
          <p:nvPr/>
        </p:nvSpPr>
        <p:spPr>
          <a:xfrm>
            <a:off x="18478440" y="5245560"/>
            <a:ext cx="441792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마무리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11" name="Picture 20"/>
          <p:cNvPicPr/>
          <p:nvPr/>
        </p:nvPicPr>
        <p:blipFill>
          <a:blip r:embed="rId10"/>
          <a:stretch/>
        </p:blipFill>
        <p:spPr>
          <a:xfrm>
            <a:off x="12230280" y="5334480"/>
            <a:ext cx="5535360" cy="57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Box 20"/>
          <p:cNvSpPr/>
          <p:nvPr/>
        </p:nvSpPr>
        <p:spPr>
          <a:xfrm>
            <a:off x="12864960" y="8636400"/>
            <a:ext cx="4392360" cy="17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서로 작업한 코드 적용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시나리오 실현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오류 제거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3" name="TextBox 21"/>
          <p:cNvSpPr/>
          <p:nvPr/>
        </p:nvSpPr>
        <p:spPr>
          <a:xfrm>
            <a:off x="12864960" y="6058440"/>
            <a:ext cx="441792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시나리오 실현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14" name="Picture 22"/>
          <p:cNvPicPr/>
          <p:nvPr/>
        </p:nvPicPr>
        <p:blipFill>
          <a:blip r:embed="rId11"/>
          <a:stretch/>
        </p:blipFill>
        <p:spPr>
          <a:xfrm>
            <a:off x="6616800" y="6147000"/>
            <a:ext cx="5535360" cy="57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23"/>
          <p:cNvSpPr/>
          <p:nvPr/>
        </p:nvSpPr>
        <p:spPr>
          <a:xfrm>
            <a:off x="6642000" y="8953920"/>
            <a:ext cx="54846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6000"/>
              </a:lnSpc>
            </a:pPr>
            <a:r>
              <a:rPr lang="ko-KR" sz="620" b="0" u="none" strike="noStrike">
                <a:solidFill>
                  <a:srgbClr val="FAFAFA"/>
                </a:solidFill>
                <a:effectLst/>
                <a:uFillTx/>
                <a:latin typeface="Pretendard Regular"/>
                <a:ea typeface="Pretendard Regular"/>
              </a:rPr>
              <a:t>기업의 현실적 채용 고민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6" name="TextBox 24"/>
          <p:cNvSpPr/>
          <p:nvPr/>
        </p:nvSpPr>
        <p:spPr>
          <a:xfrm>
            <a:off x="7238880" y="9449280"/>
            <a:ext cx="4392360" cy="17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인프라 구축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보안 단계 확립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웹 기본틀 작성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7" name="TextBox 25"/>
          <p:cNvSpPr/>
          <p:nvPr/>
        </p:nvSpPr>
        <p:spPr>
          <a:xfrm>
            <a:off x="7238880" y="6858360"/>
            <a:ext cx="441792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인프라 구축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8" name="TextBox 26"/>
          <p:cNvSpPr/>
          <p:nvPr/>
        </p:nvSpPr>
        <p:spPr>
          <a:xfrm>
            <a:off x="17843400" y="3099240"/>
            <a:ext cx="56368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4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주차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(~8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월 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14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일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)</a:t>
            </a:r>
            <a:endParaRPr lang="en-US" sz="26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9" name="TextBox 27"/>
          <p:cNvSpPr/>
          <p:nvPr/>
        </p:nvSpPr>
        <p:spPr>
          <a:xfrm>
            <a:off x="12230280" y="3099240"/>
            <a:ext cx="564984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3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주차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(~8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월 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9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일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)</a:t>
            </a:r>
            <a:endParaRPr lang="en-US" sz="26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0" name="TextBox 28"/>
          <p:cNvSpPr/>
          <p:nvPr/>
        </p:nvSpPr>
        <p:spPr>
          <a:xfrm>
            <a:off x="6616800" y="3099240"/>
            <a:ext cx="56368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2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주차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(~8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월 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2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일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)</a:t>
            </a:r>
            <a:endParaRPr lang="en-US" sz="26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1" name="TextBox 29"/>
          <p:cNvSpPr/>
          <p:nvPr/>
        </p:nvSpPr>
        <p:spPr>
          <a:xfrm>
            <a:off x="1003320" y="3099240"/>
            <a:ext cx="56368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1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주차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(~7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월 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26</a:t>
            </a:r>
            <a:r>
              <a:rPr lang="ko-KR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일</a:t>
            </a:r>
            <a:r>
              <a:rPr lang="en-US" sz="266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)</a:t>
            </a:r>
            <a:endParaRPr lang="en-US" sz="26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22" name="Picture 30"/>
          <p:cNvPicPr/>
          <p:nvPr/>
        </p:nvPicPr>
        <p:blipFill>
          <a:blip r:embed="rId12"/>
          <a:stretch/>
        </p:blipFill>
        <p:spPr>
          <a:xfrm>
            <a:off x="1003320" y="6947280"/>
            <a:ext cx="5535360" cy="57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31"/>
          <p:cNvSpPr/>
          <p:nvPr/>
        </p:nvSpPr>
        <p:spPr>
          <a:xfrm>
            <a:off x="1625760" y="10249200"/>
            <a:ext cx="4392360" cy="17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아키텍처 설계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역할 배분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협업 도구 선정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4" name="TextBox 32"/>
          <p:cNvSpPr/>
          <p:nvPr/>
        </p:nvSpPr>
        <p:spPr>
          <a:xfrm>
            <a:off x="1625760" y="7671240"/>
            <a:ext cx="441792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기획 및 준비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25" name="Picture 33"/>
          <p:cNvPicPr/>
          <p:nvPr/>
        </p:nvPicPr>
        <p:blipFill>
          <a:blip r:embed="rId13">
            <a:alphaModFix amt="20000"/>
          </a:blip>
          <a:stretch/>
        </p:blipFill>
        <p:spPr>
          <a:xfrm>
            <a:off x="5651640" y="7671240"/>
            <a:ext cx="26496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34"/>
          <p:cNvPicPr/>
          <p:nvPr/>
        </p:nvPicPr>
        <p:blipFill>
          <a:blip r:embed="rId14">
            <a:alphaModFix amt="20000"/>
          </a:blip>
          <a:stretch/>
        </p:blipFill>
        <p:spPr>
          <a:xfrm>
            <a:off x="10756800" y="6870960"/>
            <a:ext cx="76032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35"/>
          <p:cNvPicPr/>
          <p:nvPr/>
        </p:nvPicPr>
        <p:blipFill>
          <a:blip r:embed="rId15">
            <a:alphaModFix amt="20000"/>
          </a:blip>
          <a:stretch/>
        </p:blipFill>
        <p:spPr>
          <a:xfrm>
            <a:off x="16560720" y="6134400"/>
            <a:ext cx="582480" cy="77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36"/>
          <p:cNvPicPr/>
          <p:nvPr/>
        </p:nvPicPr>
        <p:blipFill>
          <a:blip r:embed="rId16">
            <a:alphaModFix amt="20000"/>
          </a:blip>
          <a:stretch/>
        </p:blipFill>
        <p:spPr>
          <a:xfrm>
            <a:off x="21983760" y="5245560"/>
            <a:ext cx="760320" cy="76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물리 경계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32" name="Image 0" descr="온프레미스–AWS 하이브리드 보안 플랫폼 논리 아키텍처"/>
          <p:cNvPicPr/>
          <p:nvPr/>
        </p:nvPicPr>
        <p:blipFill>
          <a:blip r:embed="rId1"/>
          <a:srcRect l="0" t="11810" r="0" b="11810"/>
          <a:stretch/>
        </p:blipFill>
        <p:spPr>
          <a:xfrm>
            <a:off x="914400" y="2651760"/>
            <a:ext cx="22553640" cy="96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Shape 5"/>
          <p:cNvSpPr/>
          <p:nvPr/>
        </p:nvSpPr>
        <p:spPr>
          <a:xfrm>
            <a:off x="4676040" y="2729160"/>
            <a:ext cx="1745280" cy="137880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1520280" y="4067640"/>
            <a:ext cx="13058280" cy="824004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914400" y="12472560"/>
            <a:ext cx="22553640" cy="10407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1463040" y="12472560"/>
            <a:ext cx="18530280" cy="10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경계는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OPNsense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가 지키고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그 뒤는 전부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Proxmox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한 대 위에 있다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이 한 대가 우리가 감수한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SPOF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7" name="Shape 59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온프레미스 플랫폼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41" name="Image 0" descr="온프레미스–AWS 하이브리드 보안 플랫폼 논리 아키텍처"/>
          <p:cNvPicPr/>
          <p:nvPr/>
        </p:nvPicPr>
        <p:blipFill>
          <a:blip r:embed="rId1"/>
          <a:srcRect l="0" t="11810" r="0" b="11810"/>
          <a:stretch/>
        </p:blipFill>
        <p:spPr>
          <a:xfrm>
            <a:off x="914400" y="2651760"/>
            <a:ext cx="22553640" cy="96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Shape 5"/>
          <p:cNvSpPr/>
          <p:nvPr/>
        </p:nvSpPr>
        <p:spPr>
          <a:xfrm>
            <a:off x="1773720" y="4546440"/>
            <a:ext cx="12551040" cy="623952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1773720" y="10843920"/>
            <a:ext cx="12551040" cy="120996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914400" y="12472560"/>
            <a:ext cx="22553640" cy="10407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1463040" y="12472560"/>
            <a:ext cx="18530280" cy="10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k3s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하나에 네 묶음을 올리고 상태를 가진 것만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VM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으로 뺐다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장애를 나눈 게 아니라 업데이트와 복구 단위를 나눈 것이다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6" name="Shape 60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HR System 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전체 워크로드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50" name="Image 0" descr="온프레미스–AWS 하이브리드 보안 플랫폼 논리 아키텍처"/>
          <p:cNvPicPr/>
          <p:nvPr/>
        </p:nvPicPr>
        <p:blipFill>
          <a:blip r:embed="rId1"/>
          <a:srcRect l="0" t="11810" r="0" b="11810"/>
          <a:stretch/>
        </p:blipFill>
        <p:spPr>
          <a:xfrm>
            <a:off x="914400" y="2651760"/>
            <a:ext cx="22553640" cy="96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Shape 5"/>
          <p:cNvSpPr/>
          <p:nvPr/>
        </p:nvSpPr>
        <p:spPr>
          <a:xfrm>
            <a:off x="15425280" y="5321520"/>
            <a:ext cx="7000920" cy="225324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15425280" y="7956000"/>
            <a:ext cx="7000920" cy="92880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914400" y="12472560"/>
            <a:ext cx="22553640" cy="10407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1463040" y="12472560"/>
            <a:ext cx="18530280" cy="10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세 서비스가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internal ALB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뒤에서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Aurora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를 쓰고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권한은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IRSA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와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Secrets Manager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가 나눠 맡는다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5" name="Shape 61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온프레미스에서 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EKS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까지의 보안 흐름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59" name="Image 0" descr="온프레미스–AWS 하이브리드 보안 플랫폼 논리 아키텍처"/>
          <p:cNvPicPr/>
          <p:nvPr/>
        </p:nvPicPr>
        <p:blipFill>
          <a:blip r:embed="rId1"/>
          <a:srcRect l="0" t="11810" r="0" b="11810"/>
          <a:stretch/>
        </p:blipFill>
        <p:spPr>
          <a:xfrm>
            <a:off x="914400" y="2651760"/>
            <a:ext cx="22553640" cy="96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Shape 5"/>
          <p:cNvSpPr/>
          <p:nvPr/>
        </p:nvSpPr>
        <p:spPr>
          <a:xfrm>
            <a:off x="2013120" y="4983480"/>
            <a:ext cx="4745880" cy="275940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15425280" y="4715640"/>
            <a:ext cx="7000920" cy="64692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15425280" y="5321520"/>
            <a:ext cx="7000920" cy="225324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914400" y="12472560"/>
            <a:ext cx="22553640" cy="10407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1463040" y="12472560"/>
            <a:ext cx="18530280" cy="10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HR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로 가는 길도 같은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Pomerium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을 지난다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두 영역을 잇는 사설 경로는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Site-to-Site VPN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하나뿐이다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5" name="Shape 62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AWS 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보안 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관측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69" name="Image 0" descr="온프레미스–AWS 하이브리드 보안 플랫폼 논리 아키텍처"/>
          <p:cNvPicPr/>
          <p:nvPr/>
        </p:nvPicPr>
        <p:blipFill>
          <a:blip r:embed="rId1"/>
          <a:srcRect l="0" t="11810" r="0" b="11810"/>
          <a:stretch/>
        </p:blipFill>
        <p:spPr>
          <a:xfrm>
            <a:off x="914400" y="2651760"/>
            <a:ext cx="22553640" cy="96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7"/>
          <p:cNvSpPr/>
          <p:nvPr/>
        </p:nvSpPr>
        <p:spPr>
          <a:xfrm>
            <a:off x="15341040" y="8928000"/>
            <a:ext cx="7169760" cy="2887200"/>
          </a:xfrm>
          <a:prstGeom prst="rect">
            <a:avLst/>
          </a:prstGeom>
          <a:noFill/>
          <a:ln w="50800">
            <a:solidFill>
              <a:srgbClr val="15E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914400" y="12472560"/>
            <a:ext cx="22553640" cy="10407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1463040" y="12472560"/>
            <a:ext cx="18530280" cy="104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GuardDuty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가 잡고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Security Hub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가 모은다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조치는 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Slack</a:t>
            </a:r>
            <a:r>
              <a:rPr lang="ko-KR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에서 허용된 사람이 승인해야 실행된다</a:t>
            </a: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3" name="Shape 62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56"/>
          <p:cNvPicPr/>
          <p:nvPr/>
        </p:nvPicPr>
        <p:blipFill>
          <a:blip r:embed="rId1"/>
          <a:stretch/>
        </p:blipFill>
        <p:spPr>
          <a:xfrm>
            <a:off x="12422880" y="7835400"/>
            <a:ext cx="11720520" cy="440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57"/>
          <p:cNvPicPr/>
          <p:nvPr/>
        </p:nvPicPr>
        <p:blipFill>
          <a:blip r:embed="rId2"/>
          <a:stretch/>
        </p:blipFill>
        <p:spPr>
          <a:xfrm>
            <a:off x="12422880" y="3240000"/>
            <a:ext cx="11720520" cy="44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Box 44"/>
          <p:cNvSpPr/>
          <p:nvPr/>
        </p:nvSpPr>
        <p:spPr>
          <a:xfrm>
            <a:off x="15112800" y="9194400"/>
            <a:ext cx="813420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4000"/>
              </a:lnSpc>
            </a:pP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Pomerium: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제로 트러스트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(Zero Trust) ID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인식 리버스 프록시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 keycloak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과 어플리케이션에서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host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기반 라우트 진입 허용 및 통제 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7" name="TextBox 45"/>
          <p:cNvSpPr/>
          <p:nvPr/>
        </p:nvSpPr>
        <p:spPr>
          <a:xfrm>
            <a:off x="15131880" y="8343720"/>
            <a:ext cx="8160840" cy="6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내부 웹 앱과 서비스 접근을 통제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8" name="TextBox 46"/>
          <p:cNvSpPr/>
          <p:nvPr/>
        </p:nvSpPr>
        <p:spPr>
          <a:xfrm>
            <a:off x="15112800" y="4986360"/>
            <a:ext cx="8134200" cy="17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4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60" b="1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Netbird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: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암호화된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P2P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프라이빗 터널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(Mesh VPN)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을 생성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승인된 사용자나 기기만 내부 리소스에 접근할 수 있도록 강력한 접근 제어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9" name="TextBox 47"/>
          <p:cNvSpPr/>
          <p:nvPr/>
        </p:nvSpPr>
        <p:spPr>
          <a:xfrm>
            <a:off x="15112800" y="4139280"/>
            <a:ext cx="8160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안전한 원격 접속 및 세션 통제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80" name="Picture 58"/>
          <p:cNvPicPr/>
          <p:nvPr/>
        </p:nvPicPr>
        <p:blipFill>
          <a:blip r:embed="rId3"/>
          <a:stretch/>
        </p:blipFill>
        <p:spPr>
          <a:xfrm>
            <a:off x="540000" y="7835400"/>
            <a:ext cx="11720520" cy="440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Picture 59"/>
          <p:cNvPicPr/>
          <p:nvPr/>
        </p:nvPicPr>
        <p:blipFill>
          <a:blip r:embed="rId4"/>
          <a:stretch/>
        </p:blipFill>
        <p:spPr>
          <a:xfrm>
            <a:off x="540000" y="3240000"/>
            <a:ext cx="11720520" cy="44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Box 48"/>
          <p:cNvSpPr/>
          <p:nvPr/>
        </p:nvSpPr>
        <p:spPr>
          <a:xfrm>
            <a:off x="3358080" y="9128520"/>
            <a:ext cx="81338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4000"/>
              </a:lnSpc>
            </a:pPr>
            <a:r>
              <a:rPr lang="en-US" sz="3060" b="1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Keycloak &amp; Pomerium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: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시스템 전체의 통합 인증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(SSO)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은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Keycloak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이 담당하고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 Pomerium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이 각 개별 서비스 앞단에서 사용자의 권한을 매번 확인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3" name="TextBox 49"/>
          <p:cNvSpPr/>
          <p:nvPr/>
        </p:nvSpPr>
        <p:spPr>
          <a:xfrm>
            <a:off x="3243240" y="8300880"/>
            <a:ext cx="8160840" cy="6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제로 트러스트 기반 인증 및 인가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4" name="TextBox 50"/>
          <p:cNvSpPr/>
          <p:nvPr/>
        </p:nvSpPr>
        <p:spPr>
          <a:xfrm>
            <a:off x="3243240" y="4986360"/>
            <a:ext cx="8133840" cy="17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4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OPNsense: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엔터프라이즈급 오픈소스 방화벽을 배치하여 온프레미스로 유입되는 네트워크 트래픽을 </a:t>
            </a:r>
            <a:br>
              <a:rPr sz="3060"/>
            </a:b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1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차적으로 엄격히 통제합니다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.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5" name="TextBox 51"/>
          <p:cNvSpPr/>
          <p:nvPr/>
        </p:nvSpPr>
        <p:spPr>
          <a:xfrm>
            <a:off x="3243240" y="4139280"/>
            <a:ext cx="8160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  <a:spcBef>
                <a:spcPts val="1191"/>
              </a:spcBef>
              <a:spcAft>
                <a:spcPts val="992"/>
              </a:spcAft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네트워크</a:t>
            </a:r>
            <a:r>
              <a:rPr lang="en-US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 경계 방어 및 능동적 위협 차단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86" name="Picture 60"/>
          <p:cNvPicPr/>
          <p:nvPr/>
        </p:nvPicPr>
        <p:blipFill>
          <a:blip r:embed="rId5"/>
          <a:stretch/>
        </p:blipFill>
        <p:spPr>
          <a:xfrm>
            <a:off x="12958200" y="4794120"/>
            <a:ext cx="1818000" cy="174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61"/>
          <p:cNvPicPr/>
          <p:nvPr/>
        </p:nvPicPr>
        <p:blipFill>
          <a:blip r:embed="rId6"/>
          <a:stretch/>
        </p:blipFill>
        <p:spPr>
          <a:xfrm>
            <a:off x="1101960" y="9388800"/>
            <a:ext cx="1818000" cy="174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Shape 2"/>
          <p:cNvSpPr/>
          <p:nvPr/>
        </p:nvSpPr>
        <p:spPr>
          <a:xfrm>
            <a:off x="360" y="36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914760" y="18324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온프레미스 보안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0" name="Text 38"/>
          <p:cNvSpPr/>
          <p:nvPr/>
        </p:nvSpPr>
        <p:spPr>
          <a:xfrm>
            <a:off x="19263960" y="18324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92" name="Picture 54"/>
          <p:cNvPicPr/>
          <p:nvPr/>
        </p:nvPicPr>
        <p:blipFill>
          <a:blip r:embed="rId7"/>
          <a:stretch/>
        </p:blipFill>
        <p:spPr>
          <a:xfrm>
            <a:off x="1138320" y="4918320"/>
            <a:ext cx="1560240" cy="156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"/>
          <p:cNvPicPr/>
          <p:nvPr/>
        </p:nvPicPr>
        <p:blipFill>
          <a:blip r:embed="rId8"/>
          <a:stretch/>
        </p:blipFill>
        <p:spPr>
          <a:xfrm>
            <a:off x="12780000" y="9000000"/>
            <a:ext cx="1821240" cy="182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40"/>
          <p:cNvPicPr/>
          <p:nvPr/>
        </p:nvPicPr>
        <p:blipFill>
          <a:blip r:embed="rId1"/>
          <a:stretch/>
        </p:blipFill>
        <p:spPr>
          <a:xfrm>
            <a:off x="12422880" y="7835400"/>
            <a:ext cx="11720520" cy="440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41"/>
          <p:cNvPicPr/>
          <p:nvPr/>
        </p:nvPicPr>
        <p:blipFill>
          <a:blip r:embed="rId2"/>
          <a:stretch/>
        </p:blipFill>
        <p:spPr>
          <a:xfrm>
            <a:off x="12422880" y="3240000"/>
            <a:ext cx="11720520" cy="44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43"/>
          <p:cNvSpPr/>
          <p:nvPr/>
        </p:nvSpPr>
        <p:spPr>
          <a:xfrm>
            <a:off x="15112800" y="9194400"/>
            <a:ext cx="813420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4000"/>
              </a:lnSpc>
            </a:pPr>
            <a:r>
              <a:rPr lang="en-US" sz="3060" b="1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HashiCorp Vault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: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데이터베이스 패스워드나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API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키 등 시스템 운영에 필요한 민감 정보를 코드나 설정 파일에 남기지 않고 중앙에서 안전하게 보관 및 주입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7" name="TextBox 52"/>
          <p:cNvSpPr/>
          <p:nvPr/>
        </p:nvSpPr>
        <p:spPr>
          <a:xfrm>
            <a:off x="15131880" y="8343720"/>
            <a:ext cx="8160840" cy="6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민감 데이터 보호 및 통신 암호화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8" name="TextBox 54"/>
          <p:cNvSpPr/>
          <p:nvPr/>
        </p:nvSpPr>
        <p:spPr>
          <a:xfrm>
            <a:off x="15112800" y="4986360"/>
            <a:ext cx="8134200" cy="17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4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60" b="1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Warpgete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: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운영자가 직접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SSH, DB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세션에 접속하지 않고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 warpgate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가 중앙 통제하여 특권 세션을 생성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 MFA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로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ssh, db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에 접근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9" name="TextBox 55"/>
          <p:cNvSpPr/>
          <p:nvPr/>
        </p:nvSpPr>
        <p:spPr>
          <a:xfrm>
            <a:off x="15112800" y="4139280"/>
            <a:ext cx="8160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특권</a:t>
            </a:r>
            <a:r>
              <a:rPr lang="en-US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 세션</a:t>
            </a:r>
            <a:r>
              <a:rPr lang="en-US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(PAM) </a:t>
            </a: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게이트웨이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200" name="Picture 42"/>
          <p:cNvPicPr/>
          <p:nvPr/>
        </p:nvPicPr>
        <p:blipFill>
          <a:blip r:embed="rId3"/>
          <a:stretch/>
        </p:blipFill>
        <p:spPr>
          <a:xfrm>
            <a:off x="540000" y="7835400"/>
            <a:ext cx="11720520" cy="440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43"/>
          <p:cNvPicPr/>
          <p:nvPr/>
        </p:nvPicPr>
        <p:blipFill>
          <a:blip r:embed="rId4"/>
          <a:stretch/>
        </p:blipFill>
        <p:spPr>
          <a:xfrm>
            <a:off x="540000" y="3240000"/>
            <a:ext cx="11720520" cy="44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Box 56"/>
          <p:cNvSpPr/>
          <p:nvPr/>
        </p:nvSpPr>
        <p:spPr>
          <a:xfrm>
            <a:off x="3358080" y="9128520"/>
            <a:ext cx="8133840" cy="23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4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60" b="1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Wazuh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: SIEM(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보안 정보 및 이벤트 관리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)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과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XDR(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확장된 탐지 및 대응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)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기능 및 침입 탐지 및 파일 무결성 모니터링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3" name="TextBox 57"/>
          <p:cNvSpPr/>
          <p:nvPr/>
        </p:nvSpPr>
        <p:spPr>
          <a:xfrm>
            <a:off x="3243240" y="8300880"/>
            <a:ext cx="8160840" cy="6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  <a:spcBef>
                <a:spcPts val="1191"/>
              </a:spcBef>
              <a:spcAft>
                <a:spcPts val="992"/>
              </a:spcAft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보안 로그 분석  및 대시보드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4" name="TextBox 58"/>
          <p:cNvSpPr/>
          <p:nvPr/>
        </p:nvSpPr>
        <p:spPr>
          <a:xfrm>
            <a:off x="3243240" y="4986360"/>
            <a:ext cx="8133840" cy="17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4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060" b="1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Crowdsec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: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선제적 방어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 Coraza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플러그인 및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OWASP CRS(Core Rule Set)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지원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, SQL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인젝션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(SQLi),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크로스 사이트 스크립팅 방지  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5" name="TextBox 59"/>
          <p:cNvSpPr/>
          <p:nvPr/>
        </p:nvSpPr>
        <p:spPr>
          <a:xfrm>
            <a:off x="3243240" y="4139280"/>
            <a:ext cx="816084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defTabSz="914400">
              <a:lnSpc>
                <a:spcPct val="107000"/>
              </a:lnSpc>
              <a:spcBef>
                <a:spcPts val="1191"/>
              </a:spcBef>
              <a:spcAft>
                <a:spcPts val="992"/>
              </a:spcAft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침입</a:t>
            </a:r>
            <a:r>
              <a:rPr lang="en-US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 탐지 및 차단</a:t>
            </a:r>
            <a:r>
              <a:rPr lang="en-US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(IDS/IPS) </a:t>
            </a: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플랫폼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206" name="Picture 53"/>
          <p:cNvPicPr/>
          <p:nvPr/>
        </p:nvPicPr>
        <p:blipFill>
          <a:blip r:embed="rId5"/>
          <a:stretch/>
        </p:blipFill>
        <p:spPr>
          <a:xfrm>
            <a:off x="12958200" y="9388800"/>
            <a:ext cx="1818000" cy="174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Shape 28"/>
          <p:cNvSpPr/>
          <p:nvPr/>
        </p:nvSpPr>
        <p:spPr>
          <a:xfrm>
            <a:off x="360" y="36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08" name="Text 42"/>
          <p:cNvSpPr/>
          <p:nvPr/>
        </p:nvSpPr>
        <p:spPr>
          <a:xfrm>
            <a:off x="914760" y="18324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온프레미스 보안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9" name="Text 44"/>
          <p:cNvSpPr/>
          <p:nvPr/>
        </p:nvSpPr>
        <p:spPr>
          <a:xfrm>
            <a:off x="19263960" y="18324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0" name="Shape 31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211" name=""/>
          <p:cNvPicPr/>
          <p:nvPr/>
        </p:nvPicPr>
        <p:blipFill>
          <a:blip r:embed="rId6"/>
          <a:stretch/>
        </p:blipFill>
        <p:spPr>
          <a:xfrm>
            <a:off x="752760" y="4406760"/>
            <a:ext cx="2337840" cy="233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"/>
          <p:cNvPicPr/>
          <p:nvPr/>
        </p:nvPicPr>
        <p:blipFill>
          <a:blip r:embed="rId7"/>
          <a:stretch/>
        </p:blipFill>
        <p:spPr>
          <a:xfrm>
            <a:off x="1260000" y="9000000"/>
            <a:ext cx="1438560" cy="143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"/>
          <p:cNvPicPr/>
          <p:nvPr/>
        </p:nvPicPr>
        <p:blipFill>
          <a:blip r:embed="rId8"/>
          <a:stretch/>
        </p:blipFill>
        <p:spPr>
          <a:xfrm>
            <a:off x="12718800" y="5220000"/>
            <a:ext cx="2219760" cy="113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접근 통제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914400" y="3063240"/>
            <a:ext cx="7211880" cy="699336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914400" y="3063240"/>
            <a:ext cx="7211880" cy="1369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1463040" y="3063240"/>
            <a:ext cx="6114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신원 </a:t>
            </a:r>
            <a:r>
              <a:rPr lang="en-US" sz="31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Keycloak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1463040" y="4937760"/>
            <a:ext cx="6114600" cy="47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계정은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Keycloak 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한 곳에서만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팀원에게 일상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ID 5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개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관리자용 특권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ID 1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개를 사용하며 여섯 개 모두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MFA</a:t>
            </a:r>
            <a:br>
              <a:rPr sz="2700"/>
            </a:br>
            <a:br>
              <a:rPr sz="2700"/>
            </a:b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그룹에 역할을 할당하고 팀원의 계정에는 역할에 맞는 그룹을 할당함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서비스마다 로컬 계정을 새로 생성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x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8585280" y="3063240"/>
            <a:ext cx="7211880" cy="699336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2" name="Shape 10"/>
          <p:cNvSpPr/>
          <p:nvPr/>
        </p:nvSpPr>
        <p:spPr>
          <a:xfrm>
            <a:off x="8585280" y="3063240"/>
            <a:ext cx="7211880" cy="1369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9133920" y="3063240"/>
            <a:ext cx="6114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경로 </a:t>
            </a:r>
            <a:r>
              <a:rPr lang="en-US" sz="31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Pomerium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9133920" y="4831200"/>
            <a:ext cx="6114600" cy="47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Pomerium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은 웹 서비스 앞단에서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Keycloak 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그룹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Claim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으로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Route 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진입 허용</a:t>
            </a:r>
            <a:br>
              <a:rPr sz="2700"/>
            </a:br>
            <a:br>
              <a:rPr sz="2700"/>
            </a:b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Route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마다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Keycloak 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그룹을 다시 확인한다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br>
              <a:rPr sz="2700"/>
            </a:br>
            <a:br>
              <a:rPr sz="2700"/>
            </a:b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Host·Path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별로 접근을 제한</a:t>
            </a:r>
            <a:br>
              <a:rPr sz="2700"/>
            </a:br>
            <a:br>
              <a:rPr sz="2700"/>
            </a:b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SSH·DB 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특권 세션은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Warpgate,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장비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네트워크 접근은 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NetBird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가 담당한다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5" name="Shape 13"/>
          <p:cNvSpPr/>
          <p:nvPr/>
        </p:nvSpPr>
        <p:spPr>
          <a:xfrm>
            <a:off x="16256160" y="3063240"/>
            <a:ext cx="7211880" cy="699336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6" name="Shape 14"/>
          <p:cNvSpPr/>
          <p:nvPr/>
        </p:nvSpPr>
        <p:spPr>
          <a:xfrm>
            <a:off x="16256160" y="3063240"/>
            <a:ext cx="7211880" cy="1369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27" name="Text 15"/>
          <p:cNvSpPr/>
          <p:nvPr/>
        </p:nvSpPr>
        <p:spPr>
          <a:xfrm>
            <a:off x="16804800" y="3063240"/>
            <a:ext cx="6114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권한 </a:t>
            </a:r>
            <a:r>
              <a:rPr lang="en-US" sz="31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31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서비스별 인가</a:t>
            </a:r>
            <a:r>
              <a:rPr lang="en-US" sz="31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(RBAC)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8" name="Text 16"/>
          <p:cNvSpPr/>
          <p:nvPr/>
        </p:nvSpPr>
        <p:spPr>
          <a:xfrm>
            <a:off x="16804800" y="4937760"/>
            <a:ext cx="6114600" cy="47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서비스 진입 이후의 실제 권한은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각 애플리케이션이 최종 판정한다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Keycloak 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그룹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클레임을 서비스별 역할에 매핑하며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,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6000"/>
              </a:lnSpc>
              <a:tabLst>
                <a:tab pos="0" algn="l"/>
              </a:tabLst>
            </a:pP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Pomerium </a:t>
            </a:r>
            <a:r>
              <a:rPr lang="ko-KR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통과만으로 관리자 권한이 생기지 않는다</a:t>
            </a:r>
            <a:r>
              <a:rPr lang="en-US" sz="27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9" name="Shape 17"/>
          <p:cNvSpPr/>
          <p:nvPr/>
        </p:nvSpPr>
        <p:spPr>
          <a:xfrm>
            <a:off x="914400" y="10607040"/>
            <a:ext cx="3528720" cy="1552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1042560" y="10607040"/>
            <a:ext cx="3272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사용자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장치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1" name="Text 19"/>
          <p:cNvSpPr/>
          <p:nvPr/>
        </p:nvSpPr>
        <p:spPr>
          <a:xfrm>
            <a:off x="4444920" y="10607040"/>
            <a:ext cx="272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2" name="Shape 20"/>
          <p:cNvSpPr/>
          <p:nvPr/>
        </p:nvSpPr>
        <p:spPr>
          <a:xfrm>
            <a:off x="4719240" y="10607040"/>
            <a:ext cx="3528720" cy="1552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33" name="Text 21"/>
          <p:cNvSpPr/>
          <p:nvPr/>
        </p:nvSpPr>
        <p:spPr>
          <a:xfrm>
            <a:off x="4847400" y="10607040"/>
            <a:ext cx="3272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NetBird overlay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4" name="Text 22"/>
          <p:cNvSpPr/>
          <p:nvPr/>
        </p:nvSpPr>
        <p:spPr>
          <a:xfrm>
            <a:off x="8250120" y="10607040"/>
            <a:ext cx="272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5" name="Shape 23"/>
          <p:cNvSpPr/>
          <p:nvPr/>
        </p:nvSpPr>
        <p:spPr>
          <a:xfrm>
            <a:off x="8524440" y="10607040"/>
            <a:ext cx="3528720" cy="1552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36" name="Text 24"/>
          <p:cNvSpPr/>
          <p:nvPr/>
        </p:nvSpPr>
        <p:spPr>
          <a:xfrm>
            <a:off x="8652240" y="10607040"/>
            <a:ext cx="3272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OPNsense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7" name="Text 25"/>
          <p:cNvSpPr/>
          <p:nvPr/>
        </p:nvSpPr>
        <p:spPr>
          <a:xfrm>
            <a:off x="12054960" y="10607040"/>
            <a:ext cx="272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8" name="Shape 26"/>
          <p:cNvSpPr/>
          <p:nvPr/>
        </p:nvSpPr>
        <p:spPr>
          <a:xfrm>
            <a:off x="12329280" y="10607040"/>
            <a:ext cx="3528720" cy="1552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39" name="Text 27"/>
          <p:cNvSpPr/>
          <p:nvPr/>
        </p:nvSpPr>
        <p:spPr>
          <a:xfrm>
            <a:off x="12457440" y="10607040"/>
            <a:ext cx="3272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Traefik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0" name="Text 28"/>
          <p:cNvSpPr/>
          <p:nvPr/>
        </p:nvSpPr>
        <p:spPr>
          <a:xfrm>
            <a:off x="15859800" y="10607040"/>
            <a:ext cx="272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1" name="Shape 29"/>
          <p:cNvSpPr/>
          <p:nvPr/>
        </p:nvSpPr>
        <p:spPr>
          <a:xfrm>
            <a:off x="16134120" y="10607040"/>
            <a:ext cx="3528720" cy="1552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42" name="Text 30"/>
          <p:cNvSpPr/>
          <p:nvPr/>
        </p:nvSpPr>
        <p:spPr>
          <a:xfrm>
            <a:off x="16262280" y="10607040"/>
            <a:ext cx="3272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Pomerium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3" name="Text 31"/>
          <p:cNvSpPr/>
          <p:nvPr/>
        </p:nvSpPr>
        <p:spPr>
          <a:xfrm>
            <a:off x="19665000" y="10607040"/>
            <a:ext cx="272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4" name="Shape 32"/>
          <p:cNvSpPr/>
          <p:nvPr/>
        </p:nvSpPr>
        <p:spPr>
          <a:xfrm>
            <a:off x="19939320" y="10607040"/>
            <a:ext cx="3528720" cy="155268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5" name="Text 33"/>
          <p:cNvSpPr/>
          <p:nvPr/>
        </p:nvSpPr>
        <p:spPr>
          <a:xfrm>
            <a:off x="20067120" y="10607040"/>
            <a:ext cx="3272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2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서비스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RBAC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6" name="Shape 63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7" name="Text 36"/>
          <p:cNvSpPr/>
          <p:nvPr/>
        </p:nvSpPr>
        <p:spPr>
          <a:xfrm>
            <a:off x="914760" y="1975320"/>
            <a:ext cx="22553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누가</a:t>
            </a:r>
            <a:r>
              <a:rPr lang="en-US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 들어오는지</a:t>
            </a:r>
            <a:r>
              <a:rPr lang="en-US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어디까지 가는지</a:t>
            </a:r>
            <a:r>
              <a:rPr lang="en-US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무엇을 만지는지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248" name=""/>
          <p:cNvPicPr/>
          <p:nvPr/>
        </p:nvPicPr>
        <p:blipFill>
          <a:blip r:embed="rId1"/>
          <a:stretch/>
        </p:blipFill>
        <p:spPr>
          <a:xfrm>
            <a:off x="6840000" y="3420000"/>
            <a:ext cx="824400" cy="82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"/>
          <p:cNvPicPr/>
          <p:nvPr/>
        </p:nvPicPr>
        <p:blipFill>
          <a:blip r:embed="rId2"/>
          <a:stretch/>
        </p:blipFill>
        <p:spPr>
          <a:xfrm>
            <a:off x="14651280" y="3420000"/>
            <a:ext cx="827640" cy="82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"/>
          <p:cNvPicPr/>
          <p:nvPr/>
        </p:nvPicPr>
        <p:blipFill>
          <a:blip r:embed="rId3"/>
          <a:stretch/>
        </p:blipFill>
        <p:spPr>
          <a:xfrm>
            <a:off x="2160000" y="12600000"/>
            <a:ext cx="89892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"/>
          <p:cNvPicPr/>
          <p:nvPr/>
        </p:nvPicPr>
        <p:blipFill>
          <a:blip r:embed="rId4"/>
          <a:stretch/>
        </p:blipFill>
        <p:spPr>
          <a:xfrm>
            <a:off x="5782320" y="12420000"/>
            <a:ext cx="1236600" cy="8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"/>
          <p:cNvPicPr/>
          <p:nvPr/>
        </p:nvPicPr>
        <p:blipFill>
          <a:blip r:embed="rId5"/>
          <a:stretch/>
        </p:blipFill>
        <p:spPr>
          <a:xfrm>
            <a:off x="9900000" y="12420000"/>
            <a:ext cx="1078920" cy="107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"/>
          <p:cNvPicPr/>
          <p:nvPr/>
        </p:nvPicPr>
        <p:blipFill>
          <a:blip r:embed="rId6"/>
          <a:stretch/>
        </p:blipFill>
        <p:spPr>
          <a:xfrm>
            <a:off x="13320000" y="12408480"/>
            <a:ext cx="1258920" cy="84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"/>
          <p:cNvPicPr/>
          <p:nvPr/>
        </p:nvPicPr>
        <p:blipFill>
          <a:blip r:embed="rId7"/>
          <a:stretch/>
        </p:blipFill>
        <p:spPr>
          <a:xfrm>
            <a:off x="17263440" y="12240000"/>
            <a:ext cx="1275480" cy="127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HR 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품질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ko-KR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공급망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914400" y="1974960"/>
            <a:ext cx="22553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Jenkins</a:t>
            </a:r>
            <a:r>
              <a:rPr lang="ko-KR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에서 </a:t>
            </a:r>
            <a:r>
              <a:rPr lang="en-US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Kyverno</a:t>
            </a:r>
            <a:r>
              <a:rPr lang="ko-KR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까지</a:t>
            </a:r>
            <a:r>
              <a:rPr lang="en-US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끊기면 거기서 끝납니다</a:t>
            </a:r>
            <a:r>
              <a:rPr lang="en-US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9" name="Shape 5"/>
          <p:cNvSpPr/>
          <p:nvPr/>
        </p:nvSpPr>
        <p:spPr>
          <a:xfrm>
            <a:off x="914400" y="3063240"/>
            <a:ext cx="3559320" cy="2284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1042560" y="331920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Jenkins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1042560" y="425196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test · coverage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2" name="Text 8"/>
          <p:cNvSpPr/>
          <p:nvPr/>
        </p:nvSpPr>
        <p:spPr>
          <a:xfrm>
            <a:off x="4475520" y="3063240"/>
            <a:ext cx="2358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3" name="Shape 9"/>
          <p:cNvSpPr/>
          <p:nvPr/>
        </p:nvSpPr>
        <p:spPr>
          <a:xfrm>
            <a:off x="4713120" y="3063240"/>
            <a:ext cx="3559320" cy="2284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4841280" y="331920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SonarQube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4841280" y="425196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quality gate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6" name="Text 12"/>
          <p:cNvSpPr/>
          <p:nvPr/>
        </p:nvSpPr>
        <p:spPr>
          <a:xfrm>
            <a:off x="8274240" y="3063240"/>
            <a:ext cx="2358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7" name="Shape 13"/>
          <p:cNvSpPr/>
          <p:nvPr/>
        </p:nvSpPr>
        <p:spPr>
          <a:xfrm>
            <a:off x="8512200" y="3063240"/>
            <a:ext cx="3559320" cy="2284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8640000" y="331920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Trivy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9" name="Text 15"/>
          <p:cNvSpPr/>
          <p:nvPr/>
        </p:nvSpPr>
        <p:spPr>
          <a:xfrm>
            <a:off x="8640000" y="425196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스캔 </a:t>
            </a:r>
            <a:r>
              <a:rPr lang="en-US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SBOM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0" name="Text 16"/>
          <p:cNvSpPr/>
          <p:nvPr/>
        </p:nvSpPr>
        <p:spPr>
          <a:xfrm>
            <a:off x="12073320" y="3063240"/>
            <a:ext cx="2358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1" name="Shape 17"/>
          <p:cNvSpPr/>
          <p:nvPr/>
        </p:nvSpPr>
        <p:spPr>
          <a:xfrm>
            <a:off x="12310920" y="3063240"/>
            <a:ext cx="3559320" cy="2284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72" name="Text 18"/>
          <p:cNvSpPr/>
          <p:nvPr/>
        </p:nvSpPr>
        <p:spPr>
          <a:xfrm>
            <a:off x="12439080" y="331920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Cosign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3" name="Text 19"/>
          <p:cNvSpPr/>
          <p:nvPr/>
        </p:nvSpPr>
        <p:spPr>
          <a:xfrm>
            <a:off x="12439080" y="425196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서명 </a:t>
            </a:r>
            <a:r>
              <a:rPr lang="en-US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검증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4" name="Text 20"/>
          <p:cNvSpPr/>
          <p:nvPr/>
        </p:nvSpPr>
        <p:spPr>
          <a:xfrm>
            <a:off x="15872040" y="3063240"/>
            <a:ext cx="2358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5" name="Shape 21"/>
          <p:cNvSpPr/>
          <p:nvPr/>
        </p:nvSpPr>
        <p:spPr>
          <a:xfrm>
            <a:off x="16110000" y="3063240"/>
            <a:ext cx="3559320" cy="2284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76" name="Text 22"/>
          <p:cNvSpPr/>
          <p:nvPr/>
        </p:nvSpPr>
        <p:spPr>
          <a:xfrm>
            <a:off x="16237800" y="331920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Harbor → ECR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7" name="Text 23"/>
          <p:cNvSpPr/>
          <p:nvPr/>
        </p:nvSpPr>
        <p:spPr>
          <a:xfrm>
            <a:off x="16237800" y="425196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승격</a:t>
            </a:r>
            <a:r>
              <a:rPr lang="en-US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 원본 </a:t>
            </a:r>
            <a:r>
              <a:rPr lang="en-US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ko-KR" sz="19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복제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8" name="Text 24"/>
          <p:cNvSpPr/>
          <p:nvPr/>
        </p:nvSpPr>
        <p:spPr>
          <a:xfrm>
            <a:off x="19671120" y="3063240"/>
            <a:ext cx="2358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9" name="Shape 25"/>
          <p:cNvSpPr/>
          <p:nvPr/>
        </p:nvSpPr>
        <p:spPr>
          <a:xfrm>
            <a:off x="19908720" y="3063240"/>
            <a:ext cx="3559320" cy="228420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0" name="Text 26"/>
          <p:cNvSpPr/>
          <p:nvPr/>
        </p:nvSpPr>
        <p:spPr>
          <a:xfrm>
            <a:off x="20036880" y="331920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Kyverno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1" name="Text 27"/>
          <p:cNvSpPr/>
          <p:nvPr/>
        </p:nvSpPr>
        <p:spPr>
          <a:xfrm>
            <a:off x="20036880" y="4251960"/>
            <a:ext cx="330336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A5A24"/>
                </a:solidFill>
                <a:effectLst/>
                <a:uFillTx/>
                <a:latin typeface="Pretendard"/>
                <a:ea typeface="Pretendard"/>
              </a:rPr>
              <a:t>EKS admission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2" name="Text 28"/>
          <p:cNvSpPr/>
          <p:nvPr/>
        </p:nvSpPr>
        <p:spPr>
          <a:xfrm>
            <a:off x="914400" y="5532120"/>
            <a:ext cx="2255364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Argo CD</a:t>
            </a:r>
            <a:r>
              <a:rPr lang="ko-KR" sz="23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는 이 관문을 다 통과한 </a:t>
            </a:r>
            <a:r>
              <a:rPr lang="en-US" sz="23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digest</a:t>
            </a:r>
            <a:r>
              <a:rPr lang="ko-KR" sz="23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만 선언</a:t>
            </a:r>
            <a:r>
              <a:rPr lang="en-US" sz="23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lang="ko-KR" sz="23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검증이 끝나기 전에는 아무것도 바뀌지 않습니다</a:t>
            </a:r>
            <a:r>
              <a:rPr lang="en-US" sz="23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283" name="Image 0" descr="Jenkins hr-system-image-build #42 — test gate에서 중단된 화면"/>
          <p:cNvPicPr/>
          <p:nvPr/>
        </p:nvPicPr>
        <p:blipFill>
          <a:blip r:embed="rId1"/>
          <a:stretch/>
        </p:blipFill>
        <p:spPr>
          <a:xfrm>
            <a:off x="914400" y="6400800"/>
            <a:ext cx="9325080" cy="414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Shape 29"/>
          <p:cNvSpPr/>
          <p:nvPr/>
        </p:nvSpPr>
        <p:spPr>
          <a:xfrm>
            <a:off x="914400" y="6400800"/>
            <a:ext cx="9325080" cy="4148640"/>
          </a:xfrm>
          <a:prstGeom prst="rect">
            <a:avLst/>
          </a:prstGeom>
          <a:noFill/>
          <a:ln w="1270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5" name="Text 30"/>
          <p:cNvSpPr/>
          <p:nvPr/>
        </p:nvSpPr>
        <p:spPr>
          <a:xfrm>
            <a:off x="914400" y="10697760"/>
            <a:ext cx="93250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Jenkins hr-system-image-build #42 — QUALITY-05 </a:t>
            </a:r>
            <a:r>
              <a:rPr lang="ko-KR" sz="21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음성 </a:t>
            </a:r>
            <a:r>
              <a:rPr lang="en-US" sz="21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fixture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6" name="Text 31"/>
          <p:cNvSpPr/>
          <p:nvPr/>
        </p:nvSpPr>
        <p:spPr>
          <a:xfrm>
            <a:off x="10881360" y="6400800"/>
            <a:ext cx="1258668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gate</a:t>
            </a:r>
            <a:r>
              <a:rPr lang="ko-KR" sz="33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에서 끊기면 이미지가 아예 안 만들어진다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7" name="Text 32"/>
          <p:cNvSpPr/>
          <p:nvPr/>
        </p:nvSpPr>
        <p:spPr>
          <a:xfrm>
            <a:off x="10881360" y="7726680"/>
            <a:ext cx="1258668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test gate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에서 멈추면 뒤 단계는 그려지지도 않는다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같은 파이프라인의 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#41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은 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checkout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부터 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release handoff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까지 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11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단계를 다 넘겼다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넘긴 빌드만 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Harbor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로 올라가고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올라간 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digest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만 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ECR</a:t>
            </a:r>
            <a:r>
              <a:rPr lang="ko-KR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로 복제된다</a:t>
            </a:r>
            <a:r>
              <a:rPr lang="en-US" sz="25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8" name="Shape 33"/>
          <p:cNvSpPr/>
          <p:nvPr/>
        </p:nvSpPr>
        <p:spPr>
          <a:xfrm>
            <a:off x="914400" y="11521440"/>
            <a:ext cx="22553640" cy="1278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89" name="Text 34"/>
          <p:cNvSpPr/>
          <p:nvPr/>
        </p:nvSpPr>
        <p:spPr>
          <a:xfrm>
            <a:off x="1737360" y="11521440"/>
            <a:ext cx="2090772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서명이 없거나 </a:t>
            </a: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gate</a:t>
            </a:r>
            <a:r>
              <a:rPr lang="ko-KR" sz="31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를 못 넘은 이미지는 여기서 더 진행 불가</a:t>
            </a: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0" name="Shape 64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291" name=""/>
          <p:cNvPicPr/>
          <p:nvPr/>
        </p:nvPicPr>
        <p:blipFill>
          <a:blip r:embed="rId2"/>
          <a:stretch/>
        </p:blipFill>
        <p:spPr>
          <a:xfrm>
            <a:off x="1157400" y="3297960"/>
            <a:ext cx="641520" cy="88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"/>
          <p:cNvPicPr/>
          <p:nvPr/>
        </p:nvPicPr>
        <p:blipFill>
          <a:blip r:embed="rId3"/>
          <a:stretch/>
        </p:blipFill>
        <p:spPr>
          <a:xfrm>
            <a:off x="4841280" y="3415680"/>
            <a:ext cx="770400" cy="77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"/>
          <p:cNvPicPr/>
          <p:nvPr/>
        </p:nvPicPr>
        <p:blipFill>
          <a:blip r:embed="rId4"/>
          <a:stretch/>
        </p:blipFill>
        <p:spPr>
          <a:xfrm>
            <a:off x="8640000" y="3319200"/>
            <a:ext cx="905760" cy="124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"/>
          <p:cNvPicPr/>
          <p:nvPr/>
        </p:nvPicPr>
        <p:blipFill>
          <a:blip r:embed="rId5"/>
          <a:stretch/>
        </p:blipFill>
        <p:spPr>
          <a:xfrm>
            <a:off x="12546000" y="3319200"/>
            <a:ext cx="902160" cy="86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"/>
          <p:cNvPicPr/>
          <p:nvPr/>
        </p:nvPicPr>
        <p:blipFill>
          <a:blip r:embed="rId6"/>
          <a:stretch/>
        </p:blipFill>
        <p:spPr>
          <a:xfrm>
            <a:off x="16110000" y="3420000"/>
            <a:ext cx="657360" cy="66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"/>
          <p:cNvPicPr/>
          <p:nvPr/>
        </p:nvPicPr>
        <p:blipFill>
          <a:blip r:embed="rId7"/>
          <a:stretch/>
        </p:blipFill>
        <p:spPr>
          <a:xfrm>
            <a:off x="20054520" y="3314520"/>
            <a:ext cx="824400" cy="82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34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98" name="Text 48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aws </a:t>
            </a:r>
            <a:r>
              <a:rPr lang="ko-KR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보안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9" name="Text 49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0" name="Shape 47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01" name="Picture 72"/>
          <p:cNvPicPr/>
          <p:nvPr/>
        </p:nvPicPr>
        <p:blipFill>
          <a:blip r:embed="rId1"/>
          <a:stretch/>
        </p:blipFill>
        <p:spPr>
          <a:xfrm rot="5400000">
            <a:off x="11762280" y="5334480"/>
            <a:ext cx="849240" cy="17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Picture 73"/>
          <p:cNvPicPr/>
          <p:nvPr/>
        </p:nvPicPr>
        <p:blipFill>
          <a:blip r:embed="rId2"/>
          <a:stretch/>
        </p:blipFill>
        <p:spPr>
          <a:xfrm>
            <a:off x="4458240" y="4699440"/>
            <a:ext cx="5078160" cy="107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74"/>
          <p:cNvPicPr/>
          <p:nvPr/>
        </p:nvPicPr>
        <p:blipFill>
          <a:blip r:embed="rId3"/>
          <a:stretch/>
        </p:blipFill>
        <p:spPr>
          <a:xfrm>
            <a:off x="14846760" y="4699440"/>
            <a:ext cx="5078160" cy="107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Picture 75"/>
          <p:cNvPicPr/>
          <p:nvPr/>
        </p:nvPicPr>
        <p:blipFill>
          <a:blip r:embed="rId4"/>
          <a:stretch/>
        </p:blipFill>
        <p:spPr>
          <a:xfrm>
            <a:off x="991080" y="10528560"/>
            <a:ext cx="22388400" cy="176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Box 64"/>
          <p:cNvSpPr/>
          <p:nvPr/>
        </p:nvSpPr>
        <p:spPr>
          <a:xfrm>
            <a:off x="1968840" y="11100240"/>
            <a:ext cx="204451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4000"/>
              </a:lnSpc>
            </a:pPr>
            <a:r>
              <a:rPr lang="ko-KR" sz="334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관리자 네트워크망 분리</a:t>
            </a:r>
            <a:r>
              <a:rPr lang="en-US" sz="334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, </a:t>
            </a:r>
            <a:r>
              <a:rPr lang="ko-KR" sz="334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자격 증명과 접근통제</a:t>
            </a:r>
            <a:r>
              <a:rPr lang="en-US" sz="334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, </a:t>
            </a:r>
            <a:r>
              <a:rPr lang="ko-KR" sz="334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위협탐지 시스템으로 </a:t>
            </a:r>
            <a:r>
              <a:rPr lang="en-US" sz="334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aws</a:t>
            </a:r>
            <a:r>
              <a:rPr lang="ko-KR" sz="334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보안을 이뤄냈습니다</a:t>
            </a:r>
            <a:r>
              <a:rPr lang="en-US" sz="334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.</a:t>
            </a:r>
            <a:endParaRPr lang="en-US" sz="334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06" name="Picture 76"/>
          <p:cNvPicPr/>
          <p:nvPr/>
        </p:nvPicPr>
        <p:blipFill>
          <a:blip r:embed="rId5"/>
          <a:stretch/>
        </p:blipFill>
        <p:spPr>
          <a:xfrm>
            <a:off x="1003680" y="5982120"/>
            <a:ext cx="7161120" cy="418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Box 65"/>
          <p:cNvSpPr/>
          <p:nvPr/>
        </p:nvSpPr>
        <p:spPr>
          <a:xfrm>
            <a:off x="1181520" y="7239240"/>
            <a:ext cx="6653160" cy="23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인터넷과 직접 맞닿는 곳에는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ALB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만 배치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NAT, EKS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노드와 데이터가 저장되는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RDS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는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Private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서브넷에 격리하여 외부의 직접 접근을 원천 차단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8" name="TextBox 66"/>
          <p:cNvSpPr/>
          <p:nvPr/>
        </p:nvSpPr>
        <p:spPr>
          <a:xfrm>
            <a:off x="1829160" y="6413760"/>
            <a:ext cx="549720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algn="ctr"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네트워크 계층 보안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09" name="Picture 77"/>
          <p:cNvPicPr/>
          <p:nvPr/>
        </p:nvPicPr>
        <p:blipFill>
          <a:blip r:embed="rId6"/>
          <a:stretch/>
        </p:blipFill>
        <p:spPr>
          <a:xfrm>
            <a:off x="7404480" y="3949920"/>
            <a:ext cx="9573840" cy="15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TextBox 67"/>
          <p:cNvSpPr/>
          <p:nvPr/>
        </p:nvSpPr>
        <p:spPr>
          <a:xfrm>
            <a:off x="11151000" y="4381920"/>
            <a:ext cx="223344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2304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36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AWS </a:t>
            </a:r>
            <a:r>
              <a:rPr lang="ko-KR" sz="36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보안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11" name="Picture 78"/>
          <p:cNvPicPr/>
          <p:nvPr/>
        </p:nvPicPr>
        <p:blipFill>
          <a:blip r:embed="rId7"/>
          <a:stretch/>
        </p:blipFill>
        <p:spPr>
          <a:xfrm>
            <a:off x="8725320" y="5982120"/>
            <a:ext cx="7161120" cy="418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Box 68"/>
          <p:cNvSpPr/>
          <p:nvPr/>
        </p:nvSpPr>
        <p:spPr>
          <a:xfrm>
            <a:off x="8903160" y="7239240"/>
            <a:ext cx="6640200" cy="17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4000"/>
              </a:lnSpc>
            </a:pP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Keycloak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을 통한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OIDC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연동과 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AWS STS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를 활용해 영구적인 자격 증명 대신 임시 토큰을 발급받아 접근하는 안전한 구조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3" name="TextBox 69"/>
          <p:cNvSpPr/>
          <p:nvPr/>
        </p:nvSpPr>
        <p:spPr>
          <a:xfrm>
            <a:off x="9563400" y="6413760"/>
            <a:ext cx="549720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algn="ctr"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자격 증명 및 접근 통제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14" name="Picture 79"/>
          <p:cNvPicPr/>
          <p:nvPr/>
        </p:nvPicPr>
        <p:blipFill>
          <a:blip r:embed="rId8"/>
          <a:stretch/>
        </p:blipFill>
        <p:spPr>
          <a:xfrm>
            <a:off x="16611840" y="5982120"/>
            <a:ext cx="7161120" cy="418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Box 70"/>
          <p:cNvSpPr/>
          <p:nvPr/>
        </p:nvSpPr>
        <p:spPr>
          <a:xfrm>
            <a:off x="17437320" y="6413760"/>
            <a:ext cx="549720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noAutofit/>
          </a:bodyPr>
          <a:p>
            <a:pPr algn="ctr" defTabSz="914400">
              <a:lnSpc>
                <a:spcPct val="107000"/>
              </a:lnSpc>
            </a:pPr>
            <a:r>
              <a:rPr lang="ko-KR" sz="3600" b="0" u="none" spc="-99" strike="noStrike">
                <a:solidFill>
                  <a:srgbClr val="000000"/>
                </a:solidFill>
                <a:effectLst/>
                <a:uFillTx/>
                <a:latin typeface="Pretendard Bold"/>
                <a:ea typeface="Pretendard Bold"/>
              </a:rPr>
              <a:t>위협 탐지 및 감사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6" name="TextBox 71"/>
          <p:cNvSpPr/>
          <p:nvPr/>
        </p:nvSpPr>
        <p:spPr>
          <a:xfrm>
            <a:off x="16789680" y="7214040"/>
            <a:ext cx="6640200" cy="11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4000"/>
              </a:lnSpc>
            </a:pP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Grafana/Loki </a:t>
            </a: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기반 모니터링 환경과 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algn="ctr" defTabSz="914400">
              <a:lnSpc>
                <a:spcPct val="124000"/>
              </a:lnSpc>
            </a:pPr>
            <a:r>
              <a:rPr lang="ko-KR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연계하여장애 및 이상 징후를 확인합니다</a:t>
            </a:r>
            <a:r>
              <a:rPr lang="en-US" sz="3060" b="0" u="none" spc="-99" strike="noStrike">
                <a:solidFill>
                  <a:srgbClr val="000000"/>
                </a:solidFill>
                <a:effectLst/>
                <a:uFillTx/>
                <a:latin typeface="Pretendard Regular"/>
                <a:ea typeface="Pretendard Regular"/>
              </a:rPr>
              <a:t>.</a:t>
            </a:r>
            <a:endParaRPr lang="en-US" sz="306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5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18" name="Text 50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EKS POD </a:t>
            </a:r>
            <a:r>
              <a:rPr lang="ko-KR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권한 관리 </a:t>
            </a:r>
            <a:r>
              <a:rPr lang="en-US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- IRSA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9" name="Text 51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0" name="Shape 37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21" name="Picture 80"/>
          <p:cNvPicPr/>
          <p:nvPr/>
        </p:nvPicPr>
        <p:blipFill>
          <a:blip r:embed="rId1"/>
          <a:stretch/>
        </p:blipFill>
        <p:spPr>
          <a:xfrm>
            <a:off x="1003320" y="3175200"/>
            <a:ext cx="12279240" cy="945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Box 72"/>
          <p:cNvSpPr/>
          <p:nvPr/>
        </p:nvSpPr>
        <p:spPr>
          <a:xfrm>
            <a:off x="14795640" y="3810240"/>
            <a:ext cx="8557920" cy="26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기존 노드 전체에 권한 부여가 아닌 각각의 개별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Pod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에 권한 부여하므로 최소 권한 지킬 수 있음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3" name="TextBox 73"/>
          <p:cNvSpPr/>
          <p:nvPr/>
        </p:nvSpPr>
        <p:spPr>
          <a:xfrm>
            <a:off x="14808240" y="7518600"/>
            <a:ext cx="8265960" cy="35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POD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가 다른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AWS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자원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(AuraDB, ALB, Secret Manager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등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)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에 접근할 때 단기 임시 토큰 부여하여 키 유출 없음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8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25" name="Text 53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CIEM(</a:t>
            </a:r>
            <a:r>
              <a:rPr lang="ko-KR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클라우드 권한 관리</a:t>
            </a:r>
            <a:r>
              <a:rPr lang="en-US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)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6" name="Text 54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7" name="Shape 39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8" name="TextBox 74"/>
          <p:cNvSpPr/>
          <p:nvPr/>
        </p:nvSpPr>
        <p:spPr>
          <a:xfrm>
            <a:off x="1003320" y="10160280"/>
            <a:ext cx="11250360" cy="26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최소 권한 적용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: IAM Access Analyzer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가 로그를 분석하여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Boundary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정책 내 일정 기간 사용되지 않은 불필요 권한을 삭제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9" name="TextBox 75"/>
          <p:cNvSpPr/>
          <p:nvPr/>
        </p:nvSpPr>
        <p:spPr>
          <a:xfrm>
            <a:off x="12750840" y="10160280"/>
            <a:ext cx="11377440" cy="26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방어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: EventBridge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가 로그를 실시간 모니터링하다가 핵심 권한 변조 시도가 포착되는 즉시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Lambda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를 통해 해당 계정을 차단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30" name="Picture 81"/>
          <p:cNvPicPr/>
          <p:nvPr/>
        </p:nvPicPr>
        <p:blipFill>
          <a:blip r:embed="rId1"/>
          <a:stretch/>
        </p:blipFill>
        <p:spPr>
          <a:xfrm>
            <a:off x="6108840" y="3073680"/>
            <a:ext cx="14844600" cy="594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4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32" name="Text 55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7000"/>
              </a:lnSpc>
            </a:pPr>
            <a:r>
              <a:rPr lang="en-US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CSPM (</a:t>
            </a:r>
            <a:r>
              <a:rPr lang="ko-KR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거버넌스 확보</a:t>
            </a:r>
            <a:r>
              <a:rPr lang="en-US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, </a:t>
            </a:r>
            <a:r>
              <a:rPr lang="ko-KR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인프라 상시 감사</a:t>
            </a:r>
            <a:r>
              <a:rPr lang="en-US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)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3" name="Text 56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4" name="Shape 41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5" name="TextBox 76"/>
          <p:cNvSpPr/>
          <p:nvPr/>
        </p:nvSpPr>
        <p:spPr>
          <a:xfrm>
            <a:off x="1003320" y="9372600"/>
            <a:ext cx="11250360" cy="35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Security Hub score 92%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까지 향상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889920" lvl="2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○"/>
            </a:pP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Critical/High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위험 해결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889920" lvl="2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○"/>
            </a:pP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예시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: EC2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인스턴스에 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IMDSv2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적용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, S3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버킷 필수 보안인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MFA Delete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활성화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, ...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36" name="Picture 82"/>
          <p:cNvPicPr/>
          <p:nvPr/>
        </p:nvPicPr>
        <p:blipFill>
          <a:blip r:embed="rId1"/>
          <a:stretch/>
        </p:blipFill>
        <p:spPr>
          <a:xfrm>
            <a:off x="14643000" y="2806560"/>
            <a:ext cx="6906960" cy="622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Picture 83"/>
          <p:cNvPicPr/>
          <p:nvPr/>
        </p:nvPicPr>
        <p:blipFill>
          <a:blip r:embed="rId2"/>
          <a:stretch/>
        </p:blipFill>
        <p:spPr>
          <a:xfrm>
            <a:off x="1955880" y="3327480"/>
            <a:ext cx="11148840" cy="483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16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39" name="Text 17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7000"/>
              </a:lnSpc>
            </a:pPr>
            <a:r>
              <a:rPr lang="ko-KR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운영 모니터링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0" name="Text 29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1" name="Shape 18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2" name="TextBox 74"/>
          <p:cNvSpPr/>
          <p:nvPr/>
        </p:nvSpPr>
        <p:spPr>
          <a:xfrm>
            <a:off x="1003320" y="9189720"/>
            <a:ext cx="1125036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무엇을 보나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: Grafana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대시보드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10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종 — 자원 사용률과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Traefik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트래픽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,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백업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, Argo CD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동기화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, k3s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운영 로그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3" name="TextBox 75"/>
          <p:cNvSpPr/>
          <p:nvPr/>
        </p:nvSpPr>
        <p:spPr>
          <a:xfrm>
            <a:off x="12750840" y="9189720"/>
            <a:ext cx="1137744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언제 알리나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: Prometheus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상시 경보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19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개 중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9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개가 백업이 실제로 돌았는지를 본다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. Alertmanager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가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#platform-alerts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로 보낸다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44" name=""/>
          <p:cNvPicPr/>
          <p:nvPr/>
        </p:nvPicPr>
        <p:blipFill>
          <a:blip r:embed="rId1"/>
          <a:stretch/>
        </p:blipFill>
        <p:spPr>
          <a:xfrm>
            <a:off x="15840000" y="1980000"/>
            <a:ext cx="8459640" cy="67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"/>
          <p:cNvPicPr/>
          <p:nvPr/>
        </p:nvPicPr>
        <p:blipFill>
          <a:blip r:embed="rId2"/>
          <a:stretch/>
        </p:blipFill>
        <p:spPr>
          <a:xfrm>
            <a:off x="20160" y="3184560"/>
            <a:ext cx="7359480" cy="509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"/>
          <p:cNvPicPr/>
          <p:nvPr/>
        </p:nvPicPr>
        <p:blipFill>
          <a:blip r:embed="rId3"/>
          <a:stretch/>
        </p:blipFill>
        <p:spPr>
          <a:xfrm>
            <a:off x="7560000" y="2646720"/>
            <a:ext cx="8099640" cy="563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19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48" name="Text 35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7000"/>
              </a:lnSpc>
            </a:pPr>
            <a:r>
              <a:rPr lang="ko-KR" sz="4800" b="0" u="none" spc="-99" strike="noStrike">
                <a:solidFill>
                  <a:srgbClr val="FFFFFF"/>
                </a:solidFill>
                <a:effectLst/>
                <a:uFillTx/>
                <a:latin typeface="Pretendard Bold"/>
                <a:ea typeface="Pretendard Bold"/>
              </a:rPr>
              <a:t>보안 모니터링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9" name="Text 37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0" name="Shape 22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51" name="Picture 345" descr="17b-wazuh.png"/>
          <p:cNvPicPr/>
          <p:nvPr/>
        </p:nvPicPr>
        <p:blipFill>
          <a:blip r:embed="rId1"/>
          <a:stretch/>
        </p:blipFill>
        <p:spPr>
          <a:xfrm>
            <a:off x="180000" y="2700000"/>
            <a:ext cx="6876720" cy="605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Picture 346" descr="17b-shuffle.png"/>
          <p:cNvPicPr/>
          <p:nvPr/>
        </p:nvPicPr>
        <p:blipFill>
          <a:blip r:embed="rId2"/>
          <a:stretch/>
        </p:blipFill>
        <p:spPr>
          <a:xfrm>
            <a:off x="17280000" y="2520000"/>
            <a:ext cx="6299640" cy="61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Box 74"/>
          <p:cNvSpPr/>
          <p:nvPr/>
        </p:nvSpPr>
        <p:spPr>
          <a:xfrm>
            <a:off x="1003320" y="9189720"/>
            <a:ext cx="1125036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무엇을 모으나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: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호스트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7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대의 파일 무결성과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rootcheck,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앱 로그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6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종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, NetBird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감사 이벤트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. Proxmox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의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/etc/pve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변경이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rule 550 level 7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로 잡힌다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4" name="TextBox 75"/>
          <p:cNvSpPr/>
          <p:nvPr/>
        </p:nvSpPr>
        <p:spPr>
          <a:xfrm>
            <a:off x="12750840" y="9189720"/>
            <a:ext cx="1137744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41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등급이 경로를 정한다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: level 7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은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Shuffle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이 보강한 뒤 사람 승인 앞에서 멈추고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, level 14 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이상만 즉시 통지된다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. active_response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는 </a:t>
            </a:r>
            <a:r>
              <a:rPr lang="en-US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0</a:t>
            </a:r>
            <a:r>
              <a:rPr lang="ko-KR" sz="4310" b="1" u="none" strike="noStrike">
                <a:solidFill>
                  <a:srgbClr val="000000"/>
                </a:solidFill>
                <a:effectLst/>
                <a:uFillTx/>
                <a:latin typeface="Pretendard Light"/>
                <a:ea typeface="Pretendard Light"/>
              </a:rPr>
              <a:t>건이다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55" name=""/>
          <p:cNvPicPr/>
          <p:nvPr/>
        </p:nvPicPr>
        <p:blipFill>
          <a:blip r:embed="rId3"/>
          <a:stretch/>
        </p:blipFill>
        <p:spPr>
          <a:xfrm>
            <a:off x="7920000" y="5597280"/>
            <a:ext cx="8597520" cy="340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6" name=""/>
          <p:cNvPicPr/>
          <p:nvPr/>
        </p:nvPicPr>
        <p:blipFill>
          <a:blip r:embed="rId4"/>
          <a:stretch/>
        </p:blipFill>
        <p:spPr>
          <a:xfrm>
            <a:off x="8640000" y="1909080"/>
            <a:ext cx="7019640" cy="349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0" y="0"/>
            <a:ext cx="24382440" cy="1735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58" name="Text 2"/>
          <p:cNvSpPr/>
          <p:nvPr/>
        </p:nvSpPr>
        <p:spPr>
          <a:xfrm>
            <a:off x="914400" y="182880"/>
            <a:ext cx="17615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SWOT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9" name="Text 3"/>
          <p:cNvSpPr/>
          <p:nvPr/>
        </p:nvSpPr>
        <p:spPr>
          <a:xfrm>
            <a:off x="19263600" y="182880"/>
            <a:ext cx="4204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pc="201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▶▶▶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0" name="Text 4"/>
          <p:cNvSpPr/>
          <p:nvPr/>
        </p:nvSpPr>
        <p:spPr>
          <a:xfrm>
            <a:off x="914400" y="1974960"/>
            <a:ext cx="22553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500" b="0" u="none" strike="noStrik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우리 프로젝트의 강점 및 약점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1" name="Shape 5"/>
          <p:cNvSpPr/>
          <p:nvPr/>
        </p:nvSpPr>
        <p:spPr>
          <a:xfrm>
            <a:off x="914400" y="3063240"/>
            <a:ext cx="10955880" cy="45518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62" name="Text 6"/>
          <p:cNvSpPr/>
          <p:nvPr/>
        </p:nvSpPr>
        <p:spPr>
          <a:xfrm>
            <a:off x="1554480" y="3429000"/>
            <a:ext cx="9675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Strength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3" name="Text 7"/>
          <p:cNvSpPr/>
          <p:nvPr/>
        </p:nvSpPr>
        <p:spPr>
          <a:xfrm>
            <a:off x="1554480" y="4617720"/>
            <a:ext cx="9675720" cy="25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4000"/>
              </a:lnSpc>
              <a:tabLst>
                <a:tab pos="0" algn="l"/>
              </a:tabLst>
            </a:pPr>
            <a:r>
              <a:rPr lang="ko-KR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다시 세우는 것도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서명을 확인하는 것도 실제로 돌아간다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4000"/>
              </a:lnSpc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4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Git SSOT </a:t>
            </a:r>
            <a:r>
              <a:rPr lang="ko-KR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기반이라 모든 인프라 구성을 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Git</a:t>
            </a:r>
            <a:r>
              <a:rPr lang="ko-KR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으로 통제 및 정보를 얻을 수 있다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4" name="Shape 8"/>
          <p:cNvSpPr/>
          <p:nvPr/>
        </p:nvSpPr>
        <p:spPr>
          <a:xfrm>
            <a:off x="12512160" y="3063240"/>
            <a:ext cx="10955880" cy="455184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5" name="Text 9"/>
          <p:cNvSpPr/>
          <p:nvPr/>
        </p:nvSpPr>
        <p:spPr>
          <a:xfrm>
            <a:off x="13152240" y="3429000"/>
            <a:ext cx="9675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Weakness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6" name="Text 10"/>
          <p:cNvSpPr/>
          <p:nvPr/>
        </p:nvSpPr>
        <p:spPr>
          <a:xfrm>
            <a:off x="13152240" y="4617720"/>
            <a:ext cx="9675720" cy="25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4000"/>
              </a:lnSpc>
              <a:tabLst>
                <a:tab pos="0" algn="l"/>
              </a:tabLst>
            </a:pPr>
            <a:r>
              <a:rPr lang="ko-KR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물리 노드가 하나뿐이라 </a:t>
            </a:r>
            <a:r>
              <a:rPr lang="en-US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HA</a:t>
            </a:r>
            <a:r>
              <a:rPr lang="ko-KR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가 없다</a:t>
            </a:r>
            <a:r>
              <a:rPr lang="en-US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7" name="Shape 11"/>
          <p:cNvSpPr/>
          <p:nvPr/>
        </p:nvSpPr>
        <p:spPr>
          <a:xfrm>
            <a:off x="914400" y="8211240"/>
            <a:ext cx="10955880" cy="455184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8" name="Text 12"/>
          <p:cNvSpPr/>
          <p:nvPr/>
        </p:nvSpPr>
        <p:spPr>
          <a:xfrm>
            <a:off x="1554480" y="8577000"/>
            <a:ext cx="9675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Opportunity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9" name="Text 13"/>
          <p:cNvSpPr/>
          <p:nvPr/>
        </p:nvSpPr>
        <p:spPr>
          <a:xfrm>
            <a:off x="1554480" y="9765720"/>
            <a:ext cx="9675720" cy="25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4000"/>
              </a:lnSpc>
              <a:tabLst>
                <a:tab pos="0" algn="l"/>
              </a:tabLst>
            </a:pPr>
            <a:r>
              <a:rPr lang="ko-KR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노드가 한 대 더 생기면 장애 도메인을 진짜로 나눌 수 있다</a:t>
            </a:r>
            <a:r>
              <a:rPr lang="en-US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4000"/>
              </a:lnSpc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34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GitOps</a:t>
            </a:r>
            <a:r>
              <a:rPr lang="ko-KR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로 모든 인프라를 구성해서</a:t>
            </a:r>
            <a:r>
              <a:rPr lang="en-US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추후 인프라 구성은 </a:t>
            </a:r>
            <a:r>
              <a:rPr lang="en-US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Terraform IaC </a:t>
            </a:r>
            <a:r>
              <a:rPr lang="ko-KR" sz="260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코드만 수정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0" name="Shape 14"/>
          <p:cNvSpPr/>
          <p:nvPr/>
        </p:nvSpPr>
        <p:spPr>
          <a:xfrm>
            <a:off x="12512160" y="8211240"/>
            <a:ext cx="10955880" cy="45518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71" name="Text 15"/>
          <p:cNvSpPr/>
          <p:nvPr/>
        </p:nvSpPr>
        <p:spPr>
          <a:xfrm>
            <a:off x="13152240" y="8577000"/>
            <a:ext cx="9675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5E954"/>
                </a:solidFill>
                <a:effectLst/>
                <a:uFillTx/>
                <a:latin typeface="Pretendard"/>
                <a:ea typeface="Pretendard"/>
              </a:rPr>
              <a:t>Threat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2" name="Text 16"/>
          <p:cNvSpPr/>
          <p:nvPr/>
        </p:nvSpPr>
        <p:spPr>
          <a:xfrm>
            <a:off x="13152240" y="9765720"/>
            <a:ext cx="9675720" cy="25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4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ko-KR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제로트러스트 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ko-KR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단계에는 미치지 못하여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ko-KR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실시간 위협 대응은 부족하다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.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3" name="Shape 70"/>
          <p:cNvSpPr/>
          <p:nvPr/>
        </p:nvSpPr>
        <p:spPr>
          <a:xfrm>
            <a:off x="0" y="1737360"/>
            <a:ext cx="718560" cy="718560"/>
          </a:xfrm>
          <a:prstGeom prst="rect">
            <a:avLst/>
          </a:prstGeom>
          <a:solidFill>
            <a:srgbClr val="15E9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Picture 44"/>
          <p:cNvPicPr/>
          <p:nvPr/>
        </p:nvPicPr>
        <p:blipFill>
          <a:blip r:embed="rId1"/>
          <a:stretch/>
        </p:blipFill>
        <p:spPr>
          <a:xfrm>
            <a:off x="12179160" y="3759480"/>
            <a:ext cx="12215520" cy="996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Picture 45"/>
          <p:cNvPicPr/>
          <p:nvPr/>
        </p:nvPicPr>
        <p:blipFill>
          <a:blip r:embed="rId2"/>
          <a:stretch/>
        </p:blipFill>
        <p:spPr>
          <a:xfrm>
            <a:off x="-12600" y="-12240"/>
            <a:ext cx="24407640" cy="38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Picture 46"/>
          <p:cNvPicPr/>
          <p:nvPr/>
        </p:nvPicPr>
        <p:blipFill>
          <a:blip r:embed="rId3"/>
          <a:stretch/>
        </p:blipFill>
        <p:spPr>
          <a:xfrm>
            <a:off x="23050440" y="1384560"/>
            <a:ext cx="1344240" cy="241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7" name="Picture 47"/>
          <p:cNvPicPr/>
          <p:nvPr/>
        </p:nvPicPr>
        <p:blipFill>
          <a:blip r:embed="rId4"/>
          <a:stretch/>
        </p:blipFill>
        <p:spPr>
          <a:xfrm>
            <a:off x="10858680" y="9931680"/>
            <a:ext cx="1344240" cy="134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8" name="Picture 48"/>
          <p:cNvPicPr/>
          <p:nvPr/>
        </p:nvPicPr>
        <p:blipFill>
          <a:blip r:embed="rId5"/>
          <a:stretch/>
        </p:blipFill>
        <p:spPr>
          <a:xfrm>
            <a:off x="12179160" y="11316240"/>
            <a:ext cx="1344240" cy="134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Picture 49"/>
          <p:cNvPicPr/>
          <p:nvPr/>
        </p:nvPicPr>
        <p:blipFill>
          <a:blip r:embed="rId6"/>
          <a:stretch/>
        </p:blipFill>
        <p:spPr>
          <a:xfrm>
            <a:off x="21742560" y="3759480"/>
            <a:ext cx="1344240" cy="134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Box 40"/>
          <p:cNvSpPr/>
          <p:nvPr/>
        </p:nvSpPr>
        <p:spPr>
          <a:xfrm>
            <a:off x="990720" y="9931680"/>
            <a:ext cx="891360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lang="ko-KR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고광근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, </a:t>
            </a:r>
            <a:r>
              <a:rPr lang="ko-KR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정주헌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, </a:t>
            </a:r>
            <a:r>
              <a:rPr lang="ko-KR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박수근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, </a:t>
            </a:r>
            <a:r>
              <a:rPr lang="ko-KR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이진희</a:t>
            </a:r>
            <a:r>
              <a:rPr lang="en-US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, </a:t>
            </a:r>
            <a:r>
              <a:rPr lang="ko-KR" sz="3740" b="0" u="none" spc="-99" strike="noStrik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박재윤</a:t>
            </a:r>
            <a:endParaRPr lang="en-US" sz="374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81" name="TextBox 41"/>
          <p:cNvSpPr/>
          <p:nvPr/>
        </p:nvSpPr>
        <p:spPr>
          <a:xfrm>
            <a:off x="1265400" y="300600"/>
            <a:ext cx="16647840" cy="32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33440" rIns="0" bIns="433440" anchor="ctr">
            <a:noAutofit/>
          </a:bodyPr>
          <a:p>
            <a:pPr defTabSz="914400">
              <a:lnSpc>
                <a:spcPct val="83000"/>
              </a:lnSpc>
            </a:pPr>
            <a:r>
              <a:rPr lang="en-US" sz="12000" b="0" u="none" spc="-400" strike="noStrike">
                <a:solidFill>
                  <a:srgbClr val="FFFFFF"/>
                </a:solidFill>
                <a:effectLst/>
                <a:uFillTx/>
                <a:latin typeface="Mattone Bold"/>
                <a:ea typeface="Mattone Bold"/>
              </a:rPr>
              <a:t>Thank you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382" name="Picture 50"/>
          <p:cNvPicPr/>
          <p:nvPr/>
        </p:nvPicPr>
        <p:blipFill>
          <a:blip r:embed="rId7"/>
          <a:stretch/>
        </p:blipFill>
        <p:spPr>
          <a:xfrm>
            <a:off x="14554080" y="2349720"/>
            <a:ext cx="8215200" cy="49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Box 42"/>
          <p:cNvSpPr/>
          <p:nvPr/>
        </p:nvSpPr>
        <p:spPr>
          <a:xfrm>
            <a:off x="1329480" y="8295840"/>
            <a:ext cx="7669080" cy="12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960" rIns="0" bIns="165960" anchor="ctr">
            <a:noAutofit/>
          </a:bodyPr>
          <a:p>
            <a:pPr defTabSz="914400">
              <a:lnSpc>
                <a:spcPct val="83000"/>
              </a:lnSpc>
            </a:pPr>
            <a:r>
              <a:rPr lang="en-US" sz="6530" b="0" u="none" spc="-201" strike="noStrike">
                <a:solidFill>
                  <a:srgbClr val="000000"/>
                </a:solidFill>
                <a:effectLst/>
                <a:uFillTx/>
                <a:latin typeface="Mattone Bold"/>
                <a:ea typeface="Mattone Bold"/>
              </a:rPr>
              <a:t>Bean Team</a:t>
            </a:r>
            <a:endParaRPr lang="en-US" sz="65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LibreOffice/26.2.4.2$Linux_X86_64 LibreOffice_project/620$Build-2</Application>
  <AppVersion>15.0000</AppVersion>
  <Words>0</Words>
  <Paragraphs>0</Paragraphs>
  <Company>Bean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2026-08-16T20:36:03Z</dcterms:created>
  <dc:creator>Bean</dc:creator>
  <dc:description/>
  <dc:language>ko-KR</dc:language>
  <cp:lastModifiedBy/>
  <dcterms:modified xsi:type="dcterms:W3CDTF">2026-08-17T10:47:50Z</dcterms:modified>
  <cp:revision>6</cp:revision>
  <dc:subject>PptxGenJS Presentation</dc:subject>
  <dc:title>온프레미스–AWS 하이브리드 보안 플랫폼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