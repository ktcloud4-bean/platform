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24384305" cy="13716000"/>
  <p:notesSz cx="13716000" cy="243843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[1/22 · 00:15] 온프레미스–AWS 하이브리드 보안 플랫폼
PURPOSE: 주제와 팀을 각인한다.
MESSAGE: 단일 물리 노드 랩에서 격리·최소 권한·선언형 재구축·오프사이트 복구를 실제로 구현했다.
ASSET: 승인된 16:9 아키텍처 이미지(어둡게)
EVIDENCE: PRESENT-VISUAL-01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[2/22 · 00:20] 목차
PURPOSE: 22장의 뼈대를 먼저 보여 청중이 길을 잃지 않게 한다.
MESSAGE: 구조 → 통제 → 증거 순으로 간다.
ASSET: native 도형
EVIDENCE: PRESENT-PLAN-01 확정 22장 순서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[3/22 · 00:35] 프로젝트 선정 배경
PURPOSE: 이 프로젝트가 필요했던 이유를 납득시킨다.
MESSAGE: 클라우드 관리형에 가려지는 경계·신원·공급망을 직접 다뤄보기 위해 온프레미스를 선택했다.
ASSET: native 도형
EVIDENCE: PRESENT-PLAN-01(외부 침해사례·대체제 비교 제외 확정)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[4/22 · 00:45] 목표와 현실적 제약
PURPOSE: 과장 없는 범위를 미리 합의한다.
MESSAGE: HA보다 격리·최소 권한·선언형 재구축·오프사이트 복구를 우선했고, 물리 SPOF는 허용한 제약이다.
ASSET: native 도형
EVIDENCE: docs/architecture.md 설계 기준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[5/22 · 00:30] Bean Team 5인 구성
PURPOSE: 누가 무엇을 맡았는지 한 번에 보여준다.
MESSAGE: 5인이 인프라·보안·애플리케이션 영역을 나눠 맡았다.
ASSET: native 도형
EVIDENCE: PRESENT-PLAN-01 팀 구성 확정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[6/22 · 00:35] 4주 간트 차트
PURPOSE: 짧은 기간에 어떤 순서로 쌓았는지 보여준다.
MESSAGE: 기반 → 통제 → 공급망 → 검증 순으로 4주를 나눴다.
ASSET: native 도형
EVIDENCE: PRESENT-PLAN-01 간트·SWOT native 도형 확정
4주차 종료일은 발표 시점(2026-08-17)에 맞춰 적었다. 저장소 첫 커밋 2026-07-28은 2주차 첫날이다.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[7/22 · 00:55] 보안 검증 시나리오 5개
PURPOSE: 다섯 시나리오가 서로 다른 통제를 검증한다는 것을 보여준다.
MESSAGE: 각 세션은 독립적으로 성립하되 하나의 침해 흐름으로 이어진다.
ASSET: native 표
EVIDENCE: DEMO-PLAN-01 · DEMO-PLAN-02 · DEMO-ONPREM-01 · DEMO-AWS-HR-01 · DEMO-RECOVERY-01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[8/22 · 00:40] 물리 경계
PURPOSE: 모든 것이 한 대의 물리 노드 위에 있다는 사실을 먼저 못 박는다.
MESSAGE: 물리 노드·OPNsense·Proxmox는 허용한 SPOF다.
ASSET: 승인 이미지 + green 강조 도형
EVIDENCE: PVE-01 · NET-02 · NET-03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[9/22 · 00:50] 온프레미스 플랫폼
PURPOSE: 플랫폼 서비스가 어디에 어떻게 나뉘어 있는지 보여준다.
MESSAGE: VM 분리는 장애 도메인이 아니라 업데이트·권한·복구 단위를 나눈 것이다.
ASSET: 승인 이미지 + green 강조 도형
EVIDENCE: K3S-01 · PG-01 · S3-01 · WG-01 · NB-01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[10/22 · 00:55] HR System 전체 워크로드
PURPOSE: AWS 쪽 대표 워크로드의 전체 구조를 한 번에 보여준다.
MESSAGE: frontend·employee-service·hr-service가 internal ALB 뒤에서 Aurora를 쓰고, 권한은 IRSA와 Secrets Manager로 나뉜다.
ASSET: 승인 이미지 + green 강조 도형
EVIDENCE: AWS-HR-01 · AWS-DB-SEC-01 · QUALITY-04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[11/22 · 00:50] 온프레미스에서 EKS까지의 보안 흐름
PURPOSE: 사용자 요청이 어떤 경계를 차례로 통과하는지 따라가게 한다.
MESSAGE: 공개 진입은 두 곳뿐이고 HR 경로는 사설 VPN 안에서만 EKS에 닿는다.
ASSET: 승인 이미지 + green 강조 도형
EVIDENCE: EDGE-01 · EDGE-02 · POM-01 · AWS-NET-01 · AWS-HR-01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[12/22 · 00:50] 접근 통제
PURPOSE: 누가·어디로·무엇을 할 수 있는지 결정하는 지점을 분리해 설명한다.
MESSAGE: Dashy 타일 숨김은 편의일 뿐이고 실제 판정은 Route와 애플리케이션 RBAC가 한다.
ASSET: native 도형
EVIDENCE: KC-01 · IAM-01 · IAM-ENROLL-01 · POM-01 · NB-ENROLL-01 · WG-03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[13/22 · 00:55] HR 품질·공급망
PURPOSE: 코드가 배포되기까지 통과해야 하는 관문을 보여준다.
MESSAGE: Harbor가 단일 승격 원본이고 ECR은 읽기 복제본이며 Kyverno가 마지막에 다시 판정한다.
ASSET: native 도형 + Jenkins 음성 fixture 실제 화면
EVIDENCE: CI-01 · QUALITY-03 · QUALITY-05 · SCAN-01 · SIGN-01 · SUPPLY-04 · SUPPLY-06 · SUPPLY-07 · SUPPLY-01-FIX-02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[14/22 · 00:45] 관측·탐지·사람 승인
PURPOSE: 경보가 사람의 판단으로 이어지는 경로를 보여준다.
MESSAGE: Suricata는 alert-only이고 Shuffle은 read-only 보강까지다. 차단과 대응은 사람이 결정한다.
ASSET: native 도형
EVIDENCE: NIDS-01 · FALCO-01 · WAZUH-01 · SOAR-01 · OBS-01 · LOKI-01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[15/22 · 00:45] 백업·복구
PURPOSE: 복구가 실제로 가능한 구조인지 보여준다.
MESSAGE: 오프사이트 AWS S3까지 가야 물리 장애와 분리된 사본이 된다.
ASSET: native 도형
EVIDENCE: BKP-04 · BKP-07 · BKP-09 · BKP-11 · KMS-01 · DEMO-RECOVERY-01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[16/22 · 00:50] 배포·품질 증거
PURPOSE: 배포와 품질 주장을 실제 화면으로 뒷받침한다.
MESSAGE: 선언한 것과 돌아가는 것이 같다는 사실을 화면에서 직접 확인한다.
ASSET: 마스킹한 실제 UI crop 2장 (16a-argo · 16b-jenkins-pass)
EVIDENCE: PRESENT-EVIDENCE-01 · AWS-HR-01 · QUALITY-05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[17/22 · 00:50] 운영·보안 증거
PURPOSE: 공급망 admission과 탐지·대응 주장을 실제 화면으로 뒷받침한다.
MESSAGE: 정책이 실제로 배포를 막고, 경보는 사람의 승인 앞에서 멈춘다.
ASSET: 마스킹한 실제 UI crop 3장 (17a-kyverno · 17b-wazuh · 17b-shuffle)
EVIDENCE: PRESENT-EVIDENCE-01 · DEMO-AWS-HR-01 · SOAR-01 · WAZUH-01
17b-shuffle의 `\n` 표시 결함은 Shuffle workflow 메시지 이스케이프 문제로 알려져 있고 그대로 쓰기로 했다.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[18/22 · 00:50] 시나리오 결과 매트릭스
PURPOSE: 다섯 시나리오의 결과를 한 장에서 대조한다.
MESSAGE: 막았다는 주장은 DENIED/ALLOWED 판정과 기존 서비스 정상 상태를 함께 보여야 성립한다.
ASSET: native 표
EVIDENCE: DEMO-ONPREM-01 · DEMO-AWS-HR-01(dry-run DENIED/ALLOWED · 기존 서비스 불변) · DEMO-RECOVERY-01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[19/22 · 00:35] SWOT
PURPOSE: 한계를 먼저 인정해 나머지 주장의 신뢰를 지킨다.
MESSAGE: HA를 포기한 대신 재구축과 복구 가능성을 확보했다.
ASSET: native 도형
EVIDENCE: docs/architecture.md 의도적으로 유보한 것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[20/22 · 00:30] 결론
PURPOSE: 발표 전체를 한 문장으로 회수한다.
MESSAGE: 단일 물리 노드 랩에서도 경계·신원·공급망·복구를 실제 판정으로 확인할 수 있었다.
ASSET: native 도형
EVIDENCE: 18장 결과 매트릭스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[21/22 · 00:00] Q&amp;A
PURPOSE: 질문을 받는다.
MESSAGE: -
ASSET: 승인 이미지를 어둡게 깐 배경
EVIDENCE: PRESENT-SCRIPT-01
예상 질문 준비: 단일 노드인데 왜 Kubernetes인가 / 자동 차단을 쓰지 않는 이유 / 서명 검증이 실패하면 무엇이 멈추나. 답변은 PRESENT-SCRIPT-01이 채운다.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[22/22 · 00:05] Thank You
PURPOSE: 발표를 닫는다.
MESSAGE: -
ASSET: native 도형
EVIDENCE: -
※ 발표 대본은 PRESENT-SCRIPT-01이 이 notes를 대체한다.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" y="3017520"/>
            <a:ext cx="1645920" cy="74980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023360"/>
            <a:ext cx="19659600" cy="420624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914400" y="8686800"/>
            <a:ext cx="1965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· 발표 고광근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914400" y="9966960"/>
            <a:ext cx="1965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고광근 · 이진희 · 박재윤 · 박수근 · 정주헌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9812305" y="12344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/ 22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먼저 보고, 통제를 지나, 증거로 끝낸다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063240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108960" y="3392424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목표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108960" y="4434840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3~4장 · 왜 이 플랫폼을 만들었나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135624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135624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6135624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108960" y="6464808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팀과 일정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108960" y="7507224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5~6장 · 5인 구성과 4주 진행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208008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9208008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9208008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108960" y="9537192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검증 시나리오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3108960" y="10579608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7장 · 5개 시나리오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2557912" y="3063240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3" name="Shape 21"/>
          <p:cNvSpPr/>
          <p:nvPr/>
        </p:nvSpPr>
        <p:spPr>
          <a:xfrm>
            <a:off x="12557912" y="3063240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2557912" y="3063240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14752472" y="3392424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구조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4752472" y="4434840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8~11장 · 물리 경계에서 AWS까지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2557912" y="6135624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8" name="Shape 26"/>
          <p:cNvSpPr/>
          <p:nvPr/>
        </p:nvSpPr>
        <p:spPr>
          <a:xfrm>
            <a:off x="12557912" y="6135624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12557912" y="6135624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14752472" y="6464808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통제와 운영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14752472" y="7507224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12~15장 · 접근·공급망·탐지·복구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12557912" y="9208008"/>
            <a:ext cx="10911992" cy="2706624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3" name="Shape 31"/>
          <p:cNvSpPr/>
          <p:nvPr/>
        </p:nvSpPr>
        <p:spPr>
          <a:xfrm>
            <a:off x="12557912" y="9208008"/>
            <a:ext cx="1737360" cy="2706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2557912" y="9208008"/>
            <a:ext cx="173736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14752472" y="9537192"/>
            <a:ext cx="8168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증거와 결과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14752472" y="10579608"/>
            <a:ext cx="816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16~20장 · 화면 증거와 결론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 · 2 / 22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배경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온프레미스였나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7213702" cy="6858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1645920" cy="1645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0632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017520" y="3063240"/>
            <a:ext cx="465338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경계를 직접 그어보고 싶었다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463040" y="5166360"/>
            <a:ext cx="611642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관리형에서는 방화벽도 VLAN도 콘솔 뒤에 있다.</a:t>
            </a: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어디까지가 우리 경계인지 정해보려고 OPNsense와 Proxmox부터 세웠다.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14400" y="8366760"/>
            <a:ext cx="7213702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1463040" y="8366760"/>
            <a:ext cx="611642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· 9장에서 다시 본다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585302" y="3063240"/>
            <a:ext cx="7213702" cy="6858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8585302" y="3063240"/>
            <a:ext cx="1645920" cy="1645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8585302" y="30632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0688422" y="3063240"/>
            <a:ext cx="465338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계정이 흩어지는 게 싫었다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9133942" y="5166360"/>
            <a:ext cx="611642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서비스마다 로컬 계정을 만들면 나중에 회수도 감사도 못 한다.</a:t>
            </a: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Keycloak 한 곳으로 모으고 일상 ID와 특권 ID를 갈랐다.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8585302" y="8366760"/>
            <a:ext cx="7213702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9133942" y="8366760"/>
            <a:ext cx="611642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12장에서 다시 본다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256203" y="3063240"/>
            <a:ext cx="7213702" cy="6858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256203" y="3063240"/>
            <a:ext cx="1645920" cy="1645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16256203" y="30632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18359323" y="3063240"/>
            <a:ext cx="465338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출처를 끝까지 보고 싶었다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6804843" y="5166360"/>
            <a:ext cx="611642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온 이미지인지, 서명이 붙어 있는지는 배포 직전에 다시 봐야 한다.</a:t>
            </a: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endParaRPr lang="en-US" sz="28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Jenkins부터 Kyverno까지 끊기지 않게 이었다.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16256203" y="8366760"/>
            <a:ext cx="7213702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6804843" y="8366760"/>
            <a:ext cx="611642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17장에서 다시 본다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14400" y="10515600"/>
            <a:ext cx="22555505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1737360" y="10515600"/>
            <a:ext cx="2090958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관리형에 가려 잘 안 보이는 경계와 신원, 공급망을 직접 다뤄보려고 온프레미스를 골랐다.</a:t>
            </a:r>
            <a:endParaRPr lang="en-US" sz="3100" dirty="0"/>
          </a:p>
        </p:txBody>
      </p:sp>
      <p:sp>
        <p:nvSpPr>
          <p:cNvPr id="30" name="Text 28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 · 3 / 22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목표와 현실적 제약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했고 무엇을 안 했나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10911992" cy="124358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3063240"/>
            <a:ext cx="981471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챙긴 것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914400" y="470916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492861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격리와 최소 권한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1463040" y="575157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VLAN은 기본 차단, 웹은 Pomerium, Pod은 NetworkPolicy, AWS는 IRSA. 층마다 따로 끊었다.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914400" y="731520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3" name="Text 11"/>
          <p:cNvSpPr/>
          <p:nvPr/>
        </p:nvSpPr>
        <p:spPr>
          <a:xfrm>
            <a:off x="1463040" y="753465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선언으로 다시 세우기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1463040" y="835761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VM은 OpenTofu, OS와 k3s는 Ansible, 클러스터 안은 Argo CD가 맡는다.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914400" y="992124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1014069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밖에 두는 사본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1463040" y="1096365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 네 종류를 SeaweedFS S3에 모았다가 Amazon S3로 한 번 더 내보낸다.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12557912" y="3063240"/>
            <a:ext cx="10911992" cy="124358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13106552" y="3063240"/>
            <a:ext cx="981471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 감수한 것</a:t>
            </a:r>
            <a:endParaRPr lang="en-US" sz="3100" dirty="0"/>
          </a:p>
        </p:txBody>
      </p:sp>
      <p:sp>
        <p:nvSpPr>
          <p:cNvPr id="20" name="Shape 18"/>
          <p:cNvSpPr/>
          <p:nvPr/>
        </p:nvSpPr>
        <p:spPr>
          <a:xfrm>
            <a:off x="12557912" y="470916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1" name="Text 19"/>
          <p:cNvSpPr/>
          <p:nvPr/>
        </p:nvSpPr>
        <p:spPr>
          <a:xfrm>
            <a:off x="13106552" y="492861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노드는 한 대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13106552" y="575157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한 대가 죽으면 전부 멈춘다. HA는 이번 범위가 아니다.</a:t>
            </a:r>
            <a:endParaRPr lang="en-US" sz="2500" dirty="0"/>
          </a:p>
        </p:txBody>
      </p:sp>
      <p:sp>
        <p:nvSpPr>
          <p:cNvPr id="23" name="Shape 21"/>
          <p:cNvSpPr/>
          <p:nvPr/>
        </p:nvSpPr>
        <p:spPr>
          <a:xfrm>
            <a:off x="12557912" y="731520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4" name="Text 22"/>
          <p:cNvSpPr/>
          <p:nvPr/>
        </p:nvSpPr>
        <p:spPr>
          <a:xfrm>
            <a:off x="13106552" y="753465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차단은 안 쓴다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13106552" y="835761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Suricata는 알림만, Shuffle은 조회만 한다. 끊을지는 사람이 정한다.</a:t>
            </a:r>
            <a:endParaRPr lang="en-US" sz="2500" dirty="0"/>
          </a:p>
        </p:txBody>
      </p:sp>
      <p:sp>
        <p:nvSpPr>
          <p:cNvPr id="26" name="Shape 24"/>
          <p:cNvSpPr/>
          <p:nvPr/>
        </p:nvSpPr>
        <p:spPr>
          <a:xfrm>
            <a:off x="12557912" y="9921240"/>
            <a:ext cx="10911992" cy="22860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7" name="Text 25"/>
          <p:cNvSpPr/>
          <p:nvPr/>
        </p:nvSpPr>
        <p:spPr>
          <a:xfrm>
            <a:off x="13106552" y="10140696"/>
            <a:ext cx="9814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전부 합성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13106552" y="10963656"/>
            <a:ext cx="9814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공격도 복구도 합성 데이터로만 돌렸다. 실데이터는 넣지 않았다.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 · 4 / 22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Team 5인 구성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무엇을 맡았나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4181917" cy="8321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4181917" cy="2468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264408"/>
            <a:ext cx="335895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고광근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325880" y="4544568"/>
            <a:ext cx="33589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 · 온프레미스 보안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25880" y="5943600"/>
            <a:ext cx="335895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OPNsense · Proxmox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k3s 플랫폼 기반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8641080"/>
            <a:ext cx="4181917" cy="2743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8915400"/>
            <a:ext cx="33589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일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9555480"/>
            <a:ext cx="335895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공급망과</a:t>
            </a:r>
            <a:endParaRPr lang="en-US" sz="2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인증 보안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5507797" y="3063240"/>
            <a:ext cx="4181917" cy="8321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507797" y="3063240"/>
            <a:ext cx="4181917" cy="2468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5919277" y="3264408"/>
            <a:ext cx="335895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이진희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5919277" y="4544568"/>
            <a:ext cx="33589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모니터링 · 대시보드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919277" y="5943600"/>
            <a:ext cx="335895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Prometheus · Grafana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Loki · Alertmanager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507797" y="8641080"/>
            <a:ext cx="4181917" cy="2743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1" name="Text 19"/>
          <p:cNvSpPr/>
          <p:nvPr/>
        </p:nvSpPr>
        <p:spPr>
          <a:xfrm>
            <a:off x="5919277" y="8915400"/>
            <a:ext cx="33589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19277" y="9555480"/>
            <a:ext cx="335895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대시보드와</a:t>
            </a:r>
            <a:endParaRPr lang="en-US" sz="2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상시 알림 채널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0101194" y="3063240"/>
            <a:ext cx="4181917" cy="8321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01194" y="3063240"/>
            <a:ext cx="4181917" cy="2468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2674" y="3264408"/>
            <a:ext cx="335895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박재윤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10512674" y="4544568"/>
            <a:ext cx="33589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AWS 보안 · 웹 서버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0512674" y="5943600"/>
            <a:ext cx="335895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AWS 네트워크 · WAF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서버 구축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101194" y="8641080"/>
            <a:ext cx="4181917" cy="2743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2674" y="8915400"/>
            <a:ext cx="33589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2674" y="9555480"/>
            <a:ext cx="335895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사설 서브넷 격리와</a:t>
            </a:r>
            <a:endParaRPr lang="en-US" sz="2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방어 계층</a:t>
            </a:r>
            <a:endParaRPr lang="en-US" sz="2300" dirty="0"/>
          </a:p>
        </p:txBody>
      </p:sp>
      <p:sp>
        <p:nvSpPr>
          <p:cNvPr id="31" name="Shape 29"/>
          <p:cNvSpPr/>
          <p:nvPr/>
        </p:nvSpPr>
        <p:spPr>
          <a:xfrm>
            <a:off x="14694591" y="3063240"/>
            <a:ext cx="4181917" cy="8321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2" name="Shape 30"/>
          <p:cNvSpPr/>
          <p:nvPr/>
        </p:nvSpPr>
        <p:spPr>
          <a:xfrm>
            <a:off x="14694591" y="3063240"/>
            <a:ext cx="4181917" cy="2468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15106071" y="3264408"/>
            <a:ext cx="335895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박수근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15106071" y="4544568"/>
            <a:ext cx="33589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AWS 인프라 · IaC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15106071" y="5943600"/>
            <a:ext cx="335895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OpenTofu 선언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Amazon EKS 인프라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4694591" y="8641080"/>
            <a:ext cx="4181917" cy="2743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7" name="Text 35"/>
          <p:cNvSpPr/>
          <p:nvPr/>
        </p:nvSpPr>
        <p:spPr>
          <a:xfrm>
            <a:off x="15106071" y="8915400"/>
            <a:ext cx="33589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일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5106071" y="9555480"/>
            <a:ext cx="335895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인프라를 코드로</a:t>
            </a:r>
            <a:endParaRPr lang="en-US" sz="2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세울 수 있게</a:t>
            </a:r>
            <a:endParaRPr lang="en-US" sz="2300" dirty="0"/>
          </a:p>
        </p:txBody>
      </p:sp>
      <p:sp>
        <p:nvSpPr>
          <p:cNvPr id="39" name="Shape 37"/>
          <p:cNvSpPr/>
          <p:nvPr/>
        </p:nvSpPr>
        <p:spPr>
          <a:xfrm>
            <a:off x="19287988" y="3063240"/>
            <a:ext cx="4181917" cy="8321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40" name="Shape 38"/>
          <p:cNvSpPr/>
          <p:nvPr/>
        </p:nvSpPr>
        <p:spPr>
          <a:xfrm>
            <a:off x="19287988" y="3063240"/>
            <a:ext cx="4181917" cy="2468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Text 39"/>
          <p:cNvSpPr/>
          <p:nvPr/>
        </p:nvSpPr>
        <p:spPr>
          <a:xfrm>
            <a:off x="19699468" y="3264408"/>
            <a:ext cx="335895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정주헌</a:t>
            </a:r>
            <a:endParaRPr lang="en-US" sz="3800" dirty="0"/>
          </a:p>
        </p:txBody>
      </p:sp>
      <p:sp>
        <p:nvSpPr>
          <p:cNvPr id="42" name="Text 40"/>
          <p:cNvSpPr/>
          <p:nvPr/>
        </p:nvSpPr>
        <p:spPr>
          <a:xfrm>
            <a:off x="19699468" y="4544568"/>
            <a:ext cx="33589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웹서비스 설계 · 보안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19699468" y="5943600"/>
            <a:ext cx="335895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웹서비스 설계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흐름 정의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19287988" y="8641080"/>
            <a:ext cx="4181917" cy="2743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5" name="Text 43"/>
          <p:cNvSpPr/>
          <p:nvPr/>
        </p:nvSpPr>
        <p:spPr>
          <a:xfrm>
            <a:off x="19699468" y="8915400"/>
            <a:ext cx="33589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일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9699468" y="9555480"/>
            <a:ext cx="335895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사용자·관리자 접근</a:t>
            </a:r>
            <a:endParaRPr lang="en-US" sz="2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정의와 검증</a:t>
            </a:r>
            <a:endParaRPr lang="en-US" sz="2300" dirty="0"/>
          </a:p>
        </p:txBody>
      </p:sp>
      <p:sp>
        <p:nvSpPr>
          <p:cNvPr id="47" name="Text 4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00:30 · 5 / 22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 간트 차트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순서로 쌓았나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75320" y="3063240"/>
            <a:ext cx="3670630" cy="1097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3063240"/>
            <a:ext cx="36706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· ~7월 26일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2073966" y="3063240"/>
            <a:ext cx="3670630" cy="1097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12073966" y="3063240"/>
            <a:ext cx="36706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· ~8월 2일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5872612" y="3063240"/>
            <a:ext cx="3670630" cy="1097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15872612" y="3063240"/>
            <a:ext cx="36706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· ~8월 9일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9671259" y="3063240"/>
            <a:ext cx="3670630" cy="1097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9671259" y="3063240"/>
            <a:ext cx="36706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· ~8월 17일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4480560"/>
            <a:ext cx="6949440" cy="16916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46451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및 준비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371600" y="539496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아키텍처 설계 · 역할 분담 · 도구 선정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8275320" y="448056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73966" y="448056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0" name="Shape 18"/>
          <p:cNvSpPr/>
          <p:nvPr/>
        </p:nvSpPr>
        <p:spPr>
          <a:xfrm>
            <a:off x="15872612" y="448056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1" name="Shape 19"/>
          <p:cNvSpPr/>
          <p:nvPr/>
        </p:nvSpPr>
        <p:spPr>
          <a:xfrm>
            <a:off x="19671259" y="448056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2" name="Shape 20"/>
          <p:cNvSpPr/>
          <p:nvPr/>
        </p:nvSpPr>
        <p:spPr>
          <a:xfrm>
            <a:off x="8421624" y="4864608"/>
            <a:ext cx="3378022" cy="9144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4864608"/>
            <a:ext cx="33780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및 준비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14400" y="6400800"/>
            <a:ext cx="6949440" cy="16916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0" y="65653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구축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371600" y="731520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OPNsense · Proxmox · k3s, 보안 단계, 웹 기본틀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8275320" y="640080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8" name="Shape 26"/>
          <p:cNvSpPr/>
          <p:nvPr/>
        </p:nvSpPr>
        <p:spPr>
          <a:xfrm>
            <a:off x="12073966" y="640080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9" name="Shape 27"/>
          <p:cNvSpPr/>
          <p:nvPr/>
        </p:nvSpPr>
        <p:spPr>
          <a:xfrm>
            <a:off x="15872612" y="640080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71259" y="640080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1" name="Shape 29"/>
          <p:cNvSpPr/>
          <p:nvPr/>
        </p:nvSpPr>
        <p:spPr>
          <a:xfrm>
            <a:off x="12220270" y="6784848"/>
            <a:ext cx="3378022" cy="9144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32" name="Text 30"/>
          <p:cNvSpPr/>
          <p:nvPr/>
        </p:nvSpPr>
        <p:spPr>
          <a:xfrm>
            <a:off x="12220270" y="6784848"/>
            <a:ext cx="33780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구축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914400" y="8321040"/>
            <a:ext cx="6949440" cy="16916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0" y="848563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실현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1371600" y="923544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통합 · 5개 시나리오 · 오류 제거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8275320" y="832104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3966" y="832104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8" name="Shape 36"/>
          <p:cNvSpPr/>
          <p:nvPr/>
        </p:nvSpPr>
        <p:spPr>
          <a:xfrm>
            <a:off x="15872612" y="832104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671259" y="832104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0" name="Shape 38"/>
          <p:cNvSpPr/>
          <p:nvPr/>
        </p:nvSpPr>
        <p:spPr>
          <a:xfrm>
            <a:off x="16018916" y="8705088"/>
            <a:ext cx="3378022" cy="9144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1" name="Text 39"/>
          <p:cNvSpPr/>
          <p:nvPr/>
        </p:nvSpPr>
        <p:spPr>
          <a:xfrm>
            <a:off x="16018916" y="8705088"/>
            <a:ext cx="33780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실현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914400" y="10241280"/>
            <a:ext cx="6949440" cy="16916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43" name="Text 41"/>
          <p:cNvSpPr/>
          <p:nvPr/>
        </p:nvSpPr>
        <p:spPr>
          <a:xfrm>
            <a:off x="1371600" y="104058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1371600" y="1115568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테스트 · 데모 영상 · 발표 자료</a:t>
            </a:r>
            <a:endParaRPr lang="en-US" sz="1900" dirty="0"/>
          </a:p>
        </p:txBody>
      </p:sp>
      <p:sp>
        <p:nvSpPr>
          <p:cNvPr id="45" name="Shape 43"/>
          <p:cNvSpPr/>
          <p:nvPr/>
        </p:nvSpPr>
        <p:spPr>
          <a:xfrm>
            <a:off x="8275320" y="1024128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6" name="Shape 44"/>
          <p:cNvSpPr/>
          <p:nvPr/>
        </p:nvSpPr>
        <p:spPr>
          <a:xfrm>
            <a:off x="12073966" y="1024128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7" name="Shape 45"/>
          <p:cNvSpPr/>
          <p:nvPr/>
        </p:nvSpPr>
        <p:spPr>
          <a:xfrm>
            <a:off x="15872612" y="1024128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19671259" y="10241280"/>
            <a:ext cx="3670630" cy="169164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49" name="Shape 47"/>
          <p:cNvSpPr/>
          <p:nvPr/>
        </p:nvSpPr>
        <p:spPr>
          <a:xfrm>
            <a:off x="19817563" y="10625328"/>
            <a:ext cx="3378022" cy="9144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50" name="Text 48"/>
          <p:cNvSpPr/>
          <p:nvPr/>
        </p:nvSpPr>
        <p:spPr>
          <a:xfrm>
            <a:off x="19817563" y="10625328"/>
            <a:ext cx="33780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914400" y="12161520"/>
            <a:ext cx="225555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기반을 먼저 쌓고 통제를 얹은 뒤 시나리오로 확인했다. 저장소 첫 커밋은 2주차가 시작된 7월 28일이다.</a:t>
            </a:r>
            <a:endParaRPr lang="en-US" sz="2300" dirty="0"/>
          </a:p>
        </p:txBody>
      </p:sp>
      <p:sp>
        <p:nvSpPr>
          <p:cNvPr id="52" name="Text 50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 · 6 / 22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검증 시나리오 5개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세션이 각각 다른 통제를 건드린다. 네 번째가 HR 가짜 릴리스다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2255550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0"/>
                <a:gridCol w="9571025"/>
              </a:tblGrid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해보나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무엇이 막아서나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1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승인 안 된 장비로 내부에 들어가 보기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Pomerium · CrowdSec AppSec · NetworkPolicy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2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합성 포털과 내부 API에 공격 걸어보기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CrowdSec AppSec · Falco 런타임 탐지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3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경보가 사람 앞까지 오는지 따라가기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Wazuh → Shuffle → 사람 승인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4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서명 없는 가짜 릴리스 밀어넣기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EKS Kyverno 공급망 admission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5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데이터를 망가뜨린 뒤 되살리기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GitOps 선언 복구 · Velero/Kopia 복원</a:t>
                      </a:r>
                      <a:endParaRPr lang="en-US" sz="2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 · 7 / 22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경계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대에서 시작한다</a:t>
            </a:r>
            <a:endParaRPr lang="en-US" sz="2500" dirty="0"/>
          </a:p>
        </p:txBody>
      </p:sp>
      <p:pic>
        <p:nvPicPr>
          <p:cNvPr id="7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/>
          <a:srcRect l="0" r="0" t="11821" b="11821"/>
          <a:stretch/>
        </p:blipFill>
        <p:spPr>
          <a:xfrm>
            <a:off x="914400" y="2651760"/>
            <a:ext cx="22555505" cy="9692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75999" y="2729162"/>
            <a:ext cx="1746960" cy="1380662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20201" y="4067558"/>
            <a:ext cx="13059933" cy="8241705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2472416"/>
            <a:ext cx="22555505" cy="104241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12472416"/>
            <a:ext cx="1853214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경계는 OPNsense가 지키고, 그 뒤는 전부 Proxmox 한 대 위에 있다. 이 한 대가 우리가 감수한 SPOF다.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19903745" y="12472416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 · 8 / 22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플랫폼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k3s 하나와 전용 VM 넷</a:t>
            </a:r>
            <a:endParaRPr lang="en-US" sz="2500" dirty="0"/>
          </a:p>
        </p:txBody>
      </p:sp>
      <p:pic>
        <p:nvPicPr>
          <p:cNvPr id="7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/>
          <a:srcRect l="0" r="0" t="11821" b="11821"/>
          <a:stretch/>
        </p:blipFill>
        <p:spPr>
          <a:xfrm>
            <a:off x="914400" y="2651760"/>
            <a:ext cx="22555505" cy="9692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773792" y="4546563"/>
            <a:ext cx="12552751" cy="6241155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3792" y="10844071"/>
            <a:ext cx="12552751" cy="1211601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2472416"/>
            <a:ext cx="22555505" cy="104241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12472416"/>
            <a:ext cx="1853214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k3s 하나에 네 묶음을 올리고 상태를 가진 것만 VM으로 뺐다. 장애를 나눈 게 아니라 업데이트와 복구 단위를 나눈 것이다.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19903745" y="12472416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9 / 22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 System 전체 워크로드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AWS 쪽 대표 워크로드</a:t>
            </a:r>
            <a:endParaRPr lang="en-US" sz="2500" dirty="0"/>
          </a:p>
        </p:txBody>
      </p:sp>
      <p:pic>
        <p:nvPicPr>
          <p:cNvPr id="7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/>
          <a:srcRect l="0" r="0" t="11821" b="11821"/>
          <a:stretch/>
        </p:blipFill>
        <p:spPr>
          <a:xfrm>
            <a:off x="914400" y="2651760"/>
            <a:ext cx="22555505" cy="9692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425437" y="5715899"/>
            <a:ext cx="7001927" cy="2817677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25437" y="8618107"/>
            <a:ext cx="7001927" cy="1352485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2472416"/>
            <a:ext cx="22555505" cy="104241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12472416"/>
            <a:ext cx="1853214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서비스가 internal ALB 뒤에서 Aurora를 쓰고, 권한은 IRSA와 Secrets Manager가 나눠 맡는다.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19903745" y="12472416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 · 10 / 22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온프레미스에서 EKS까지의 보안 흐름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Pomerium을 지나 사설 VPN으로</a:t>
            </a:r>
            <a:endParaRPr lang="en-US" sz="2500" dirty="0"/>
          </a:p>
        </p:txBody>
      </p:sp>
      <p:pic>
        <p:nvPicPr>
          <p:cNvPr id="7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/>
          <a:srcRect l="0" r="0" t="11821" b="11821"/>
          <a:stretch/>
        </p:blipFill>
        <p:spPr>
          <a:xfrm>
            <a:off x="914400" y="2651760"/>
            <a:ext cx="22555505" cy="9692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013294" y="4983303"/>
            <a:ext cx="4747786" cy="2761324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25437" y="4814243"/>
            <a:ext cx="7001927" cy="817126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25437" y="5715899"/>
            <a:ext cx="7001927" cy="2817677"/>
          </a:xfrm>
          <a:prstGeom prst="rect">
            <a:avLst/>
          </a:prstGeom>
          <a:noFill/>
          <a:ln w="50800">
            <a:solidFill>
              <a:srgbClr val="15E95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12472416"/>
            <a:ext cx="22555505" cy="104241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1463040" y="12472416"/>
            <a:ext cx="1853214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HR로 가는 길도 같은 Pomerium을 지난다. 두 영역을 잇는 사설 경로는 Site-to-Site VPN 하나뿐이다.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19903745" y="12472416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11 / 22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통제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들어오는지, 어디까지 가는지, 무엇을 만지는지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7213702" cy="699516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신원 · Keycloak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1463040" y="4937760"/>
            <a:ext cx="6116422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계정은 Keycloak 한 곳에서만 만든다.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ID 5개와 특권 ID 1개를 나눠 두고 여섯 개 모두 MFA를 걸었다.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서비스마다 로컬 계정을 새로 파지 않는다.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8585302" y="3063240"/>
            <a:ext cx="7213702" cy="699516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585302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9133942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· Pomerium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133942" y="4937760"/>
            <a:ext cx="6116422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Route마다 Keycloak 그룹을 다시 확인한다.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Dashy에서 타일이 안 보이는 건 화면 정리일 뿐 통제가 아니다.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인증면 밖 주소는 내부 DNS에서만 쓴다.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256203" y="3063240"/>
            <a:ext cx="7213702" cy="699516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16256203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6804843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· 애플리케이션 RBAC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16804843" y="4937760"/>
            <a:ext cx="6116422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사람이라도 앱 안에서 역할이 한 번 더 갈린다.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Shuffle은 일상 ID 5개가 reader, 특권 ID 1개만 admin이다.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특권 SSH는 Warpgate를 거치고 세션이 남는다.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10607040"/>
            <a:ext cx="3530651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장치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445051" y="10607040"/>
            <a:ext cx="274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719371" y="10607040"/>
            <a:ext cx="3530651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4847387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NetBird overlay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250022" y="10607040"/>
            <a:ext cx="274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24342" y="10607040"/>
            <a:ext cx="3530651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8652358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OPNsense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054992" y="10607040"/>
            <a:ext cx="274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2329312" y="10607040"/>
            <a:ext cx="3530651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12457328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Traefik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5859963" y="10607040"/>
            <a:ext cx="274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6134283" y="10607040"/>
            <a:ext cx="3530651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2" name="Text 30"/>
          <p:cNvSpPr/>
          <p:nvPr/>
        </p:nvSpPr>
        <p:spPr>
          <a:xfrm>
            <a:off x="16262299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Pomerium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9664934" y="10607040"/>
            <a:ext cx="274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9939254" y="10607040"/>
            <a:ext cx="3530651" cy="155448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35" name="Text 33"/>
          <p:cNvSpPr/>
          <p:nvPr/>
        </p:nvSpPr>
        <p:spPr>
          <a:xfrm>
            <a:off x="20067270" y="10607040"/>
            <a:ext cx="32746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RBAC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12 / 22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 품질·공급망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Jenkins에서 Kyverno까지, 끊기면 거기서 끝난다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3561131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42416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 · coverage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475531" y="3063240"/>
            <a:ext cx="2377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713275" y="3063240"/>
            <a:ext cx="3561131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1291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SonarQube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841291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quality gate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74406" y="3063240"/>
            <a:ext cx="2377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512150" y="3063240"/>
            <a:ext cx="3561131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8640166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Trivy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640166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 · SBOM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2073280" y="3063240"/>
            <a:ext cx="2377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2311024" y="3063240"/>
            <a:ext cx="3561131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439040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Cosign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2439040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 · 검증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872155" y="3063240"/>
            <a:ext cx="2377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6109899" y="3063240"/>
            <a:ext cx="3561131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6237915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Harbor → ECR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16237915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승격 원본 · 복제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19671030" y="3063240"/>
            <a:ext cx="2377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9908774" y="3063240"/>
            <a:ext cx="3561131" cy="22860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8" name="Text 26"/>
          <p:cNvSpPr/>
          <p:nvPr/>
        </p:nvSpPr>
        <p:spPr>
          <a:xfrm>
            <a:off x="20036790" y="3319272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Kyverno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0036790" y="4251960"/>
            <a:ext cx="33050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0A5A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EKS admission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914400" y="5532120"/>
            <a:ext cx="2255550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Argo CD는 이 관문을 다 통과한 digest만 선언한다. 검증이 끝나기 전에는 아무것도 바뀌지 않는다.</a:t>
            </a:r>
            <a:endParaRPr lang="en-US" sz="2300" dirty="0"/>
          </a:p>
        </p:txBody>
      </p:sp>
      <p:pic>
        <p:nvPicPr>
          <p:cNvPr id="31" name="Image 0" descr="Jenkins hr-system-image-build #42 — test gate에서 중단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6400800"/>
            <a:ext cx="9326880" cy="4150598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914400" y="6400800"/>
            <a:ext cx="9326880" cy="4150598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14400" y="10697702"/>
            <a:ext cx="932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 hr-system-image-build #42 — QUALITY-05 음성 fixture</a:t>
            </a:r>
            <a:endParaRPr lang="en-US" sz="2100" dirty="0"/>
          </a:p>
        </p:txBody>
      </p:sp>
      <p:sp>
        <p:nvSpPr>
          <p:cNvPr id="34" name="Text 31"/>
          <p:cNvSpPr/>
          <p:nvPr/>
        </p:nvSpPr>
        <p:spPr>
          <a:xfrm>
            <a:off x="10881360" y="6400800"/>
            <a:ext cx="125885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gate에서 끊기면 이미지가 아예 안 만들어진다</a:t>
            </a:r>
            <a:endParaRPr lang="en-US" sz="3300" dirty="0"/>
          </a:p>
        </p:txBody>
      </p:sp>
      <p:sp>
        <p:nvSpPr>
          <p:cNvPr id="35" name="Text 32"/>
          <p:cNvSpPr/>
          <p:nvPr/>
        </p:nvSpPr>
        <p:spPr>
          <a:xfrm>
            <a:off x="10881360" y="7726680"/>
            <a:ext cx="1258854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 gate에서 멈추면 뒤 단계는 그려지지도 않는다.</a:t>
            </a:r>
            <a:endParaRPr lang="en-US" sz="2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파이프라인의 #41은 checkout부터 release handoff까지 11단계를 다 넘겼다.</a:t>
            </a:r>
            <a:endParaRPr lang="en-US" sz="2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25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넘긴 빌드만 Harbor로 올라가고, 올라간 digest만 ECR로 복제된다.</a:t>
            </a:r>
            <a:endParaRPr lang="en-US" sz="2500" dirty="0"/>
          </a:p>
        </p:txBody>
      </p:sp>
      <p:sp>
        <p:nvSpPr>
          <p:cNvPr id="36" name="Shape 33"/>
          <p:cNvSpPr/>
          <p:nvPr/>
        </p:nvSpPr>
        <p:spPr>
          <a:xfrm>
            <a:off x="914400" y="11521440"/>
            <a:ext cx="22555505" cy="12801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1737360" y="11521440"/>
            <a:ext cx="2090958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서명이 없거나 gate를 못 넘은 이미지는 여기서 더 못 간다.</a:t>
            </a:r>
            <a:endParaRPr lang="en-US" sz="3100" dirty="0"/>
          </a:p>
        </p:txBody>
      </p:sp>
      <p:sp>
        <p:nvSpPr>
          <p:cNvPr id="38" name="Text 3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9" name="Text 3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 · 13 / 22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관측·탐지·사람 승인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잡는 것까지는 자동, 끊는 것은 사람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5669280" cy="14173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19125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25880" y="38496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IDS · 알림만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914400" y="4663440"/>
            <a:ext cx="5669280" cy="14173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479145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CrowdSec AppSec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25880" y="54498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origin WAF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914400" y="6263640"/>
            <a:ext cx="5669280" cy="14173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639165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Falco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25880" y="70500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컨테이너 런타임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60920" y="3063240"/>
            <a:ext cx="4846320" cy="4526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7635240" y="42519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Wazuh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7635240" y="54406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모아서 엮는다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583680" y="3063240"/>
            <a:ext cx="7772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2984480" y="3063240"/>
            <a:ext cx="4846320" cy="4526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0" y="42519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Shuffle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3258800" y="54406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조회만 해서 붙인다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207240" y="3063240"/>
            <a:ext cx="7772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8608040" y="3063240"/>
            <a:ext cx="5230368" cy="452628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5" name="Text 23"/>
          <p:cNvSpPr/>
          <p:nvPr/>
        </p:nvSpPr>
        <p:spPr>
          <a:xfrm>
            <a:off x="18882360" y="4251960"/>
            <a:ext cx="4681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승인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882360" y="5440680"/>
            <a:ext cx="4681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A5A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Continue / Stop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7830800" y="3063240"/>
            <a:ext cx="7772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19248120" y="6492240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멈춘다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14400" y="8092440"/>
            <a:ext cx="7213702" cy="2606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8321040"/>
            <a:ext cx="62078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Prometheus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1417320" y="9235440"/>
            <a:ext cx="62078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지표와 경보. 백업 유닛이 죽어도 알림이 온다.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8585302" y="8092440"/>
            <a:ext cx="7213702" cy="2606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3" name="Text 31"/>
          <p:cNvSpPr/>
          <p:nvPr/>
        </p:nvSpPr>
        <p:spPr>
          <a:xfrm>
            <a:off x="9088222" y="8321040"/>
            <a:ext cx="62078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Grafana</a:t>
            </a:r>
            <a:endParaRPr lang="en-US" sz="2900" dirty="0"/>
          </a:p>
        </p:txBody>
      </p:sp>
      <p:sp>
        <p:nvSpPr>
          <p:cNvPr id="34" name="Text 32"/>
          <p:cNvSpPr/>
          <p:nvPr/>
        </p:nvSpPr>
        <p:spPr>
          <a:xfrm>
            <a:off x="9088222" y="9235440"/>
            <a:ext cx="62078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대시보드. 팀 계정은 Pomerium을 지나 들어온다.</a:t>
            </a:r>
            <a:endParaRPr lang="en-US" sz="2300" dirty="0"/>
          </a:p>
        </p:txBody>
      </p:sp>
      <p:sp>
        <p:nvSpPr>
          <p:cNvPr id="35" name="Shape 33"/>
          <p:cNvSpPr/>
          <p:nvPr/>
        </p:nvSpPr>
        <p:spPr>
          <a:xfrm>
            <a:off x="16256203" y="8092440"/>
            <a:ext cx="7213702" cy="26060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6" name="Text 34"/>
          <p:cNvSpPr/>
          <p:nvPr/>
        </p:nvSpPr>
        <p:spPr>
          <a:xfrm>
            <a:off x="16759123" y="8321040"/>
            <a:ext cx="62078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Loki</a:t>
            </a:r>
            <a:endParaRPr lang="en-US" sz="2900" dirty="0"/>
          </a:p>
        </p:txBody>
      </p:sp>
      <p:sp>
        <p:nvSpPr>
          <p:cNvPr id="37" name="Text 35"/>
          <p:cNvSpPr/>
          <p:nvPr/>
        </p:nvSpPr>
        <p:spPr>
          <a:xfrm>
            <a:off x="16759123" y="9235440"/>
            <a:ext cx="62078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2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 집계. 사건이 나면 지표와 로그를 같이 본다.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914400" y="11155680"/>
            <a:ext cx="22555505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1737360" y="11155680"/>
            <a:ext cx="2090958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차단도 대응도 자동으로 하지 않는다. 흐름은 사람 앞에서 멈춘다.</a:t>
            </a:r>
            <a:endParaRPr lang="en-US" sz="3100" dirty="0"/>
          </a:p>
        </p:txBody>
      </p:sp>
      <p:sp>
        <p:nvSpPr>
          <p:cNvPr id="40" name="Text 38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 · 14 / 22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백업·복구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받아서 어디에 두고 어떻게 되돌리나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7213702" cy="7635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받는가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1463040" y="4937760"/>
            <a:ext cx="6116422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k3s datastore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Velero 리소스 백업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PostgreSQL 네이티브 백업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Vault Raft snapshot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중 하나라도 실패하면 Prometheus가 알린다.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8585302" y="3063240"/>
            <a:ext cx="7213702" cy="7635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585302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9133942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두는가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133942" y="4937760"/>
            <a:ext cx="6116422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object-01의 SeaweedFS S3에 내린다.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노드 밖으로 나가야 백업이라서, 네 bucket을 Amazon S3로 한 번 더 보낸다.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오프사이트 계정은 읽기만 된다.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256203" y="3063240"/>
            <a:ext cx="7213702" cy="7635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16256203" y="3063240"/>
            <a:ext cx="7213702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6804843" y="3063240"/>
            <a:ext cx="6116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되돌리는가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16804843" y="4937760"/>
            <a:ext cx="6116422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선언은 Argo CD가 Git에서 되돌린다.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Velero/Kopia로 복원하되 격리 namespace에서 먼저 맞춰본다.</a:t>
            </a: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endParaRPr lang="en-US" sz="270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2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Vault는 AWS KMS를 쓰면서 Shamir 복귀 경로를 남겼다.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11155680"/>
            <a:ext cx="22555505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737360" y="11155680"/>
            <a:ext cx="2090958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노드에 둔 사본은 백업이 아니다. Amazon S3까지 나가야 물리 장애와 떨어진다.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 · 15 / 22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배포·품질 증거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읽히는 것만 말한다</a:t>
            </a:r>
            <a:endParaRPr lang="en-US" sz="2500" dirty="0"/>
          </a:p>
        </p:txBody>
      </p:sp>
      <p:pic>
        <p:nvPicPr>
          <p:cNvPr id="7" name="Image 0" descr="Argo CD Application hr-syst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63240"/>
            <a:ext cx="10911992" cy="509147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3063240"/>
            <a:ext cx="10911992" cy="5091479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8275320"/>
            <a:ext cx="1091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Argo CD Application hr-system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914400" y="8961120"/>
            <a:ext cx="10911992" cy="9601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8961120"/>
            <a:ext cx="9997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적어둔 대로 돌고 있다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914400" y="10149840"/>
            <a:ext cx="1091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Synced to main · Healthy, 마지막 sync도 Sync OK</a:t>
            </a:r>
            <a:endParaRPr lang="en-US" sz="2400" dirty="0"/>
          </a:p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frontend · employee-service · hr-service 셋 다 Healthy</a:t>
            </a:r>
            <a:endParaRPr lang="en-US" sz="2400" dirty="0"/>
          </a:p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Git에 적은 것과 실제로 도는 것이 같다는 뜻이다</a:t>
            </a:r>
            <a:endParaRPr lang="en-US" sz="2400" dirty="0"/>
          </a:p>
        </p:txBody>
      </p:sp>
      <p:pic>
        <p:nvPicPr>
          <p:cNvPr id="13" name="Image 1" descr="Jenkins hr-system-image-build #4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7912" y="3063240"/>
            <a:ext cx="10911992" cy="485599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2557912" y="3063240"/>
            <a:ext cx="10911992" cy="4855997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2557912" y="8275320"/>
            <a:ext cx="1091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 hr-system-image-build #41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12557912" y="8961120"/>
            <a:ext cx="10911992" cy="9601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3"/>
          <p:cNvSpPr/>
          <p:nvPr/>
        </p:nvSpPr>
        <p:spPr>
          <a:xfrm>
            <a:off x="13015112" y="8961120"/>
            <a:ext cx="9997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gate를 넘은 빌드만 올라간다</a:t>
            </a:r>
            <a:endParaRPr lang="en-US" sz="2500" dirty="0"/>
          </a:p>
        </p:txBody>
      </p:sp>
      <p:sp>
        <p:nvSpPr>
          <p:cNvPr id="18" name="Text 14"/>
          <p:cNvSpPr/>
          <p:nvPr/>
        </p:nvSpPr>
        <p:spPr>
          <a:xfrm>
            <a:off x="12557912" y="10149840"/>
            <a:ext cx="1091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checkout · test · SonarQube · Trivy/SBOM · Harbor push ·</a:t>
            </a:r>
            <a:endParaRPr lang="en-US" sz="2400" dirty="0"/>
          </a:p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sign and verify · release handoff까지 11단계 전부 통과</a:t>
            </a:r>
            <a:endParaRPr lang="en-US" sz="2400" dirty="0"/>
          </a:p>
          <a:p>
            <a:pPr algn="l" indent="0" marL="0">
              <a:lnSpc>
                <a:spcPct val="144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빌드가 만든 digest만 Harbor 승격과 ECR 복제로 넘어간다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16 / 22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운영·보안 증거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DENIED와 ALLOWED를 한 화면에서</a:t>
            </a:r>
            <a:endParaRPr lang="en-US" sz="2500" dirty="0"/>
          </a:p>
        </p:txBody>
      </p:sp>
      <p:pic>
        <p:nvPicPr>
          <p:cNvPr id="7" name="Image 0" descr="EKS Kyverno server-side dry-run 터미널 출력 — DENIED와 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063240"/>
            <a:ext cx="20116800" cy="38364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3120" y="3063240"/>
            <a:ext cx="20116800" cy="3836490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7009458"/>
            <a:ext cx="22555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gitops/tools/demo-aws-hr-01/demo.sh prove — EKS server-side dry-run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914400" y="7772400"/>
            <a:ext cx="22555505" cy="9601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7772400"/>
            <a:ext cx="2164110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 없는 이미지는 막히고 서명된 digest만 올라간다. 기존 서비스는 그대로다.</a:t>
            </a:r>
            <a:endParaRPr lang="en-US" sz="2500" dirty="0"/>
          </a:p>
        </p:txBody>
      </p:sp>
      <p:pic>
        <p:nvPicPr>
          <p:cNvPr id="12" name="Image 1" descr="실제 인프라에서 이벤트가 들어온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081" y="9189720"/>
            <a:ext cx="3687399" cy="32461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68081" y="9189720"/>
            <a:ext cx="3687399" cy="3246120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257800" y="9189720"/>
            <a:ext cx="6568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인프라에서 이벤트가 들어온다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257800" y="10195560"/>
            <a:ext cx="65685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Wazuh Threat Hunting, 최근 24시간 218,300건</a:t>
            </a:r>
            <a:endParaRPr lang="en-US" sz="2200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5종에서 수집 중</a:t>
            </a:r>
            <a:endParaRPr lang="en-US" sz="2200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탐지의 출발점이 합성 화면이 아니라는 근거다</a:t>
            </a:r>
            <a:endParaRPr lang="en-US" sz="2200" dirty="0"/>
          </a:p>
        </p:txBody>
      </p:sp>
      <p:pic>
        <p:nvPicPr>
          <p:cNvPr id="16" name="Image 2" descr="탐지가 사람 앞까지 온다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1897" y="9189720"/>
            <a:ext cx="3321030" cy="324612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2611897" y="9189720"/>
            <a:ext cx="3321030" cy="3246120"/>
          </a:xfrm>
          <a:prstGeom prst="rect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6535552" y="9189720"/>
            <a:ext cx="6934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탐지가 사람 앞까지 온다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16535552" y="10195560"/>
            <a:ext cx="6934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Wazuh 보강을 마치고 승인 앞에서 멈춘다</a:t>
            </a:r>
            <a:endParaRPr lang="en-US" sz="2200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Continue와 Stop 중 하나를 사람이 고른다</a:t>
            </a:r>
            <a:endParaRPr lang="en-US" sz="2200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대응은 하지 않는다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17 / 22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결과 매트릭스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막았다는 말은 기존 서비스가 멀쩡할 때만 성립한다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2255550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89120"/>
                <a:gridCol w="9144000"/>
                <a:gridCol w="6370625"/>
              </a:tblGrid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시도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기존 서비스</a:t>
                      </a:r>
                      <a:endParaRPr lang="en-US" sz="2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1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경로 우회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미승인 장비는 못 들어오고, 승인 장비도 그룹이 다르면 403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그대로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포털·API 공격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payload가 대조군에선 통하고 통제군에선 CrowdSec가 403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그대로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 → 대응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NetworkPolicy가 막고 Falco·Wazuh가 잡은 뒤 사람이 눌렀다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그대로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4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가짜 릴리스 배포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미서명은 DENIED, 서명된 digest는 ALLOWED. 새 Pod은 하나도 안 떴다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 서비스 Ready·digest·UID 그대로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72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훼손 후 복구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격리 namespace에서 복원 완료. 선언은 Argo CD가 되돌렸다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복구 뒤 해시 일치, HTTP 200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46304" marR="146304" marT="146304" marB="146304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 · 18 / 22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한계부터 적는다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10957712" cy="45537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3429000"/>
            <a:ext cx="967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Strength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554480" y="4617720"/>
            <a:ext cx="9677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세우는 것도, 서명을 확인하는 것도 실제로 돌아간다.</a:t>
            </a: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경계와 신원, 정책이 문서가 아니라 라이브에서 걸러지고 그 장면을 화면으로 보여줄 수 있다.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2512192" y="3063240"/>
            <a:ext cx="10957712" cy="45537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13152272" y="3429000"/>
            <a:ext cx="967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152272" y="4617720"/>
            <a:ext cx="9677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노드가 하나뿐이라 HA가 없다.</a:t>
            </a: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대응을 안 쓰니 사람이 병목이고, 공격과 복구 검증은 합성 데이터 안에서만 했다.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4400" y="8211312"/>
            <a:ext cx="10957712" cy="45537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8577072"/>
            <a:ext cx="967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Opportunity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554480" y="9765792"/>
            <a:ext cx="9677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노드가 한 대 더 생기면 장애 도메인을 진짜로 나눌 수 있다.</a:t>
            </a: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Suricata를 IPS로 올리는 길도 그대로 열어 뒀다.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2512192" y="8211312"/>
            <a:ext cx="10957712" cy="45537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3152272" y="8577072"/>
            <a:ext cx="967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Threat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152272" y="9765792"/>
            <a:ext cx="9677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한 대와 외부 SaaS 의존은 그대로 남아 있다.</a:t>
            </a: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endParaRPr lang="en-US" sz="260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줄면 수동 대응 절차부터 무너진다.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 · 19 / 22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658368" cy="45720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"/>
            <a:ext cx="1761774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263665" y="1828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22555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확인했나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22555505" cy="1920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63240"/>
            <a:ext cx="1737360" cy="19202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0632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00400" y="3063240"/>
            <a:ext cx="1972086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대짜리 랩에서도 경계와 신원, 공급망과 복구를 실제로 확인했다.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5303520"/>
            <a:ext cx="22555505" cy="1920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5303520"/>
            <a:ext cx="1737360" cy="19202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30352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00400" y="5303520"/>
            <a:ext cx="1972086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막았다는 말은 DENIED와 ALLOWED 화면, 멀쩡한 기존 서비스를 같이 보일 때만 했다.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7543800"/>
            <a:ext cx="22555505" cy="192024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543800"/>
            <a:ext cx="1737360" cy="19202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754380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200400" y="7543800"/>
            <a:ext cx="1972086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HA와 자동 대응은 안 했다. 대신 다시 세우는 법과 밖에 둔 사본을 남겼다.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14400" y="9875520"/>
            <a:ext cx="7213702" cy="2743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10012680"/>
            <a:ext cx="611642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0" dirty="0"/>
          </a:p>
        </p:txBody>
      </p:sp>
      <p:sp>
        <p:nvSpPr>
          <p:cNvPr id="21" name="Text 19"/>
          <p:cNvSpPr/>
          <p:nvPr/>
        </p:nvSpPr>
        <p:spPr>
          <a:xfrm>
            <a:off x="1463040" y="11384280"/>
            <a:ext cx="61164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검증 시나리오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1463040" y="12024360"/>
            <a:ext cx="61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접근부터 복구까지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85302" y="9875520"/>
            <a:ext cx="7213702" cy="2743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9133942" y="10012680"/>
            <a:ext cx="611642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0" dirty="0"/>
          </a:p>
        </p:txBody>
      </p:sp>
      <p:sp>
        <p:nvSpPr>
          <p:cNvPr id="25" name="Text 23"/>
          <p:cNvSpPr/>
          <p:nvPr/>
        </p:nvSpPr>
        <p:spPr>
          <a:xfrm>
            <a:off x="9133942" y="11384280"/>
            <a:ext cx="61164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 파이프라인 단계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9133942" y="12024360"/>
            <a:ext cx="61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checkout부터 release handoff까지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16256203" y="9875520"/>
            <a:ext cx="7213702" cy="2743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16804843" y="10012680"/>
            <a:ext cx="611642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0" dirty="0"/>
          </a:p>
        </p:txBody>
      </p:sp>
      <p:sp>
        <p:nvSpPr>
          <p:cNvPr id="29" name="Text 27"/>
          <p:cNvSpPr/>
          <p:nvPr/>
        </p:nvSpPr>
        <p:spPr>
          <a:xfrm>
            <a:off x="16804843" y="11384280"/>
            <a:ext cx="61164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오프사이트 bucket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16804843" y="12024360"/>
            <a:ext cx="61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SeaweedFS S3를 거쳐 Amazon S3로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914400" y="12947904"/>
            <a:ext cx="179835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8897905" y="129479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00:30 · 20 / 22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" name="Image 0" descr="온프레미스–AWS 하이브리드 보안 플랫폼 논리 아키텍처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>
              <a:alpha val="7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" y="4663440"/>
            <a:ext cx="1645920" cy="74980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5669280"/>
            <a:ext cx="22555505" cy="274320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7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8400" dirty="0"/>
          </a:p>
        </p:txBody>
      </p:sp>
      <p:sp>
        <p:nvSpPr>
          <p:cNvPr id="7" name="Text 4"/>
          <p:cNvSpPr/>
          <p:nvPr/>
        </p:nvSpPr>
        <p:spPr>
          <a:xfrm>
            <a:off x="914400" y="8778240"/>
            <a:ext cx="1798350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받겠습니다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9812305" y="12344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22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4663440"/>
            <a:ext cx="1645920" cy="74980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669280"/>
            <a:ext cx="22555505" cy="274320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7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 you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914400" y="8778240"/>
            <a:ext cx="1798350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· 온프레미스–AWS 하이브리드 보안 플랫폼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9812305" y="12344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22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Bean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온프레미스–AWS 하이브리드 보안 플랫폼</dc:title>
  <dc:subject>PptxGenJS Presentation</dc:subject>
  <dc:creator>Bean</dc:creator>
  <cp:lastModifiedBy>Bean</cp:lastModifiedBy>
  <cp:revision>1</cp:revision>
  <dcterms:created xsi:type="dcterms:W3CDTF">2026-08-16T20:36:03Z</dcterms:created>
  <dcterms:modified xsi:type="dcterms:W3CDTF">2026-08-16T20:36:03Z</dcterms:modified>
</cp:coreProperties>
</file>