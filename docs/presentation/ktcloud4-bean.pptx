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24384305" cy="13716000"/>
  <p:notesSz cx="13716000" cy="243843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[1/22 · 00:15] 온프레미스–AWS 하이브리드 보안 플랫폼
PURPOSE: 주제와 팀을 각인한다.
MESSAGE: 단일 물리 노드 랩에서 격리·최소 권한·선언형 재구축·오프사이트 복구를 실제로 구현했다.
ASSET: 승인된 16:9 아키텍처 이미지(어둡게)
EVIDENCE: PRESENT-VISUAL-01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[2/22 · 00:20] 목차
PURPOSE: 22장의 뼈대를 먼저 보여 청중이 길을 잃지 않게 한다.
MESSAGE: 구조 → 통제 → 증거 순으로 간다.
ASSET: native 도형
EVIDENCE: PRESENT-PLAN-01 확정 22장 순서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[3/22 · 00:35] 프로젝트 선정 배경
PURPOSE: 이 프로젝트가 필요했던 이유를 납득시킨다.
MESSAGE: 클라우드 관리형에 가려지는 경계·신원·공급망을 직접 다뤄보기 위해 온프레미스를 선택했다.
ASSET: native 도형
EVIDENCE: PRESENT-PLAN-01(외부 침해사례·대체제 비교 제외 확정)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[4/22 · 00:45] 목표와 현실적 제약
PURPOSE: 과장 없는 범위를 미리 합의한다.
MESSAGE: HA보다 격리·최소 권한·선언형 재구축·오프사이트 복구를 우선했고, 물리 SPOF는 허용한 제약이다.
ASSET: native 도형
EVIDENCE: docs/architecture.md 설계 기준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[5/22 · 00:30] Bean Team 5인 구성
PURPOSE: 누가 무엇을 맡았는지 한 번에 보여준다.
MESSAGE: 5인이 인프라·보안·애플리케이션 영역을 나눠 맡았다.
ASSET: native 도형
EVIDENCE: PRESENT-PLAN-01 팀 구성 확정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[6/22 · 00:35] 4주 간트 차트
PURPOSE: 짧은 기간에 어떤 순서로 쌓았는지 보여준다.
MESSAGE: 기반 → 통제 → 공급망 → 검증 순으로 4주를 나눴다.
ASSET: native 도형
EVIDENCE: PRESENT-PLAN-01 간트·SWOT native 도형 확정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[7/22 · 00:55] 보안 검증 시나리오 5개
PURPOSE: 다섯 시나리오가 서로 다른 통제를 검증한다는 것을 보여준다.
MESSAGE: 각 세션은 독립적으로 성립하되 하나의 침해 흐름으로 이어진다.
ASSET: native 표
EVIDENCE: DEMO-PLAN-01 · DEMO-PLAN-02 · DEMO-ONPREM-01 · DEMO-AWS-HR-01 · DEMO-RECOVERY-01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[8/22 · 00:40] 물리 경계
PURPOSE: 모든 것이 한 대의 물리 노드 위에 있다는 사실을 먼저 못 박는다.
MESSAGE: 물리 노드·OPNsense·Proxmox는 허용한 SPOF다.
ASSET: 승인 이미지 + green 강조 도형
EVIDENCE: PVE-01 · NET-02 · NET-03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[9/22 · 00:50] 온프레미스 플랫폼
PURPOSE: 플랫폼 서비스가 어디에 어떻게 나뉘어 있는지 보여준다.
MESSAGE: VM 분리는 장애 도메인이 아니라 업데이트·권한·복구 단위를 나눈 것이다.
ASSET: 승인 이미지 + green 강조 도형
EVIDENCE: K3S-01 · PG-01 · S3-01 · WG-01 · NB-01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[10/22 · 00:55] HR System 전체 워크로드
PURPOSE: AWS 쪽 대표 워크로드의 전체 구조를 한 번에 보여준다.
MESSAGE: frontend·employee-service·hr-service가 internal ALB 뒤에서 Aurora를 쓰고, 권한은 IRSA와 Secrets Manager로 나뉜다.
ASSET: 승인 이미지 + green 강조 도형
EVIDENCE: AWS-HR-01 · AWS-DB-SEC-01 · QUALITY-04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[11/22 · 00:50] 온프레미스에서 EKS까지의 보안 흐름
PURPOSE: 사용자 요청이 어떤 경계를 차례로 통과하는지 따라가게 한다.
MESSAGE: 공개 진입은 두 곳뿐이고 HR 경로는 사설 VPN 안에서만 EKS에 닿는다.
ASSET: 승인 이미지 + green 강조 도형
EVIDENCE: EDGE-01 · EDGE-02 · POM-01 · AWS-NET-01 · AWS-HR-01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[12/22 · 00:50] 접근 통제
PURPOSE: 누가·어디로·무엇을 할 수 있는지 결정하는 지점을 분리해 설명한다.
MESSAGE: Dashy 타일 숨김은 편의일 뿐이고 실제 판정은 Route와 애플리케이션 RBAC가 한다.
ASSET: native 도형
EVIDENCE: KC-01 · IAM-01 · POM-01 · NB-ENROLL-01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[13/22 · 00:55] HR 품질·공급망
PURPOSE: 코드가 배포되기까지 통과해야 하는 관문을 보여준다.
MESSAGE: Harbor가 단일 승격 원본이고 ECR은 읽기 복제본이며 Kyverno가 마지막에 다시 판정한다.
ASSET: native 도형
EVIDENCE: CI-01 · QUALITY-03 · QUALITY-05 · SCAN-01 · SIGN-01 · SUPPLY-04 · SUPPLY-06 · SUPPLY-07 · SUPPLY-01-FIX-02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[14/22 · 00:45] 관측·탐지·사람 승인
PURPOSE: 경보가 사람의 판단으로 이어지는 경로를 보여준다.
MESSAGE: Suricata는 alert-only이고 Shuffle은 read-only 보강까지다. 차단과 대응은 사람이 결정한다.
ASSET: native 도형
EVIDENCE: NIDS-01 · FALCO-01 · WAZUH-01 · SOAR-01 · OBS-01 · LOKI-01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[15/22 · 00:45] 백업·복구
PURPOSE: 복구가 실제로 가능한 구조인지 보여준다.
MESSAGE: 오프사이트 AWS S3까지 가야 물리 장애와 분리된 사본이 된다.
ASSET: native 도형
EVIDENCE: BKP-04 · BKP-07 · BKP-09 · KMS-01 · DEMO-RECOVERY-01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[16/22 · 00:50] 배포·품질 증거
PURPOSE: 배포와 품질 주장을 실제 화면으로 뒷받침한다.
MESSAGE: 선언한 것과 돌아가는 것이 같다는 사실을 화면에서 직접 확인한다.
ASSET: 마스킹한 실제 UI crop 2장
EVIDENCE: PRESENT-EVIDENCE-01 · AWS-HR-01 · QUALITY-05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[17/22 · 00:50] 운영·보안 증거
PURPOSE: 공급망 admission과 탐지·대응 주장을 실제 화면으로 뒷받침한다.
MESSAGE: 정책이 실제로 배포를 막고, 경보는 사람의 승인 앞에서 멈춘다.
ASSET: 마스킹한 실제 UI crop 2장
EVIDENCE: PRESENT-EVIDENCE-01 · DEMO-AWS-HR-01 · SOAR-01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[18/22 · 00:50] 시나리오 결과 매트릭스
PURPOSE: 다섯 시나리오의 결과를 한 장에서 대조한다.
MESSAGE: 막았다는 주장은 DENIED/ALLOWED 판정과 기존 서비스 정상 상태를 함께 보여야 성립한다.
ASSET: native 표
EVIDENCE: DEMO-AWS-HR-01(dry-run DENIED/ALLOWED · 기존 서비스 불변) · DEMO-RECOVERY-01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[19/22 · 00:35] SWOT
PURPOSE: 한계를 먼저 인정해 나머지 주장의 신뢰를 지킨다.
MESSAGE: HA를 포기한 대신 재구축과 복구 가능성을 확보했다.
ASSET: native 도형
EVIDENCE: docs/architecture.md 의도적으로 유보한 것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[20/22 · 00:30] 결론
PURPOSE: 발표 전체를 한 문장으로 회수한다.
MESSAGE: 단일 물리 노드 랩에서도 경계·신원·공급망·복구를 실제 판정으로 확인할 수 있었다.
ASSET: native 도형
EVIDENCE: 18장 결과 매트릭스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[21/22 · 00:00] Q&amp;A
PURPOSE: 질문을 받는다.
MESSAGE: -
ASSET: 승인 이미지를 어둡게 깐 배경
EVIDENCE: PRESENT-SCRIPT-01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[22/22 · 00:05] Thank You
PURPOSE: 발표를 닫는다.
MESSAGE: -
ASSET: native 도형
EVIDENCE: -
※ PRESENT-DECK-SKELETON-01 와이어프레임. 최종 문구는 PRESENT-DECK-01, 대본은 PRESENT-SCRIPT-01이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3200400"/>
            <a:ext cx="1371600" cy="64008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4023360"/>
            <a:ext cx="1322862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8321040"/>
            <a:ext cx="132286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 · 발표 고광근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9418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spc="3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▶▶▶▶▶▶▶▶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4874545" y="3200400"/>
            <a:ext cx="8595360" cy="7315200"/>
          </a:xfrm>
          <a:prstGeom prst="rect">
            <a:avLst/>
          </a:prstGeom>
          <a:solidFill>
            <a:srgbClr val="111111"/>
          </a:solidFill>
          <a:ln w="19050">
            <a:solidFill>
              <a:srgbClr val="666666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5240305" y="585216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승인된 16:9 아키텍처 이미지를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어둡게 처리해 배경으로 배치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12527280"/>
            <a:ext cx="225555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 · 1 / 22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묶음 · 22장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11003432" cy="18105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651760"/>
            <a:ext cx="822960" cy="18105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51760"/>
            <a:ext cx="822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11680" y="2889504"/>
            <a:ext cx="954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배경과 목표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11680" y="3566160"/>
            <a:ext cx="9540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3~4장 · 왜 이 플랫폼을 만들었나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736592"/>
            <a:ext cx="11003432" cy="18105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4736592"/>
            <a:ext cx="822960" cy="18105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36592"/>
            <a:ext cx="822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11680" y="4974336"/>
            <a:ext cx="954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팀과 일정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011680" y="5650992"/>
            <a:ext cx="9540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5~6장 · 5인 구성과 4주 진행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14400" y="6821424"/>
            <a:ext cx="11003432" cy="18105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6821424"/>
            <a:ext cx="822960" cy="18105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6821424"/>
            <a:ext cx="822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011680" y="7059168"/>
            <a:ext cx="954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검증 시나리오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2011680" y="7735824"/>
            <a:ext cx="9540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7장 · 5개 시나리오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2466472" y="2651760"/>
            <a:ext cx="11003432" cy="18105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66472" y="2651760"/>
            <a:ext cx="822960" cy="18105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466472" y="2651760"/>
            <a:ext cx="822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3563752" y="2889504"/>
            <a:ext cx="954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구조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3563752" y="3566160"/>
            <a:ext cx="9540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8~11장 · 물리 경계에서 AWS까지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2466472" y="4736592"/>
            <a:ext cx="11003432" cy="18105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1" name="Shape 29"/>
          <p:cNvSpPr/>
          <p:nvPr/>
        </p:nvSpPr>
        <p:spPr>
          <a:xfrm>
            <a:off x="12466472" y="4736592"/>
            <a:ext cx="822960" cy="18105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2" name="Text 30"/>
          <p:cNvSpPr/>
          <p:nvPr/>
        </p:nvSpPr>
        <p:spPr>
          <a:xfrm>
            <a:off x="12466472" y="4736592"/>
            <a:ext cx="822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3563752" y="4974336"/>
            <a:ext cx="954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통제와 운영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13563752" y="5650992"/>
            <a:ext cx="9540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12~15장 · 접근·공급망·탐지·복구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2466472" y="6821424"/>
            <a:ext cx="11003432" cy="1810512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6" name="Shape 34"/>
          <p:cNvSpPr/>
          <p:nvPr/>
        </p:nvSpPr>
        <p:spPr>
          <a:xfrm>
            <a:off x="12466472" y="6821424"/>
            <a:ext cx="822960" cy="181051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7" name="Text 35"/>
          <p:cNvSpPr/>
          <p:nvPr/>
        </p:nvSpPr>
        <p:spPr>
          <a:xfrm>
            <a:off x="12466472" y="6821424"/>
            <a:ext cx="822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3563752" y="7059168"/>
            <a:ext cx="954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증거와 결과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3563752" y="7735824"/>
            <a:ext cx="9540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16~20장 · 화면 증거와 결론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914400" y="914400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400" y="914400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2" name="Text 40"/>
          <p:cNvSpPr/>
          <p:nvPr/>
        </p:nvSpPr>
        <p:spPr>
          <a:xfrm>
            <a:off x="1298448" y="929030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98448" y="971092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22장의 뼈대를 먼저 보여 청중이 길을 잃지 않게 한다.</a:t>
            </a:r>
            <a:endParaRPr lang="en-US" sz="1700" dirty="0"/>
          </a:p>
        </p:txBody>
      </p:sp>
      <p:sp>
        <p:nvSpPr>
          <p:cNvPr id="44" name="Shape 42"/>
          <p:cNvSpPr/>
          <p:nvPr/>
        </p:nvSpPr>
        <p:spPr>
          <a:xfrm>
            <a:off x="12420752" y="914400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45" name="Shape 43"/>
          <p:cNvSpPr/>
          <p:nvPr/>
        </p:nvSpPr>
        <p:spPr>
          <a:xfrm>
            <a:off x="12420752" y="914400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6" name="Text 44"/>
          <p:cNvSpPr/>
          <p:nvPr/>
        </p:nvSpPr>
        <p:spPr>
          <a:xfrm>
            <a:off x="12804800" y="929030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804800" y="971092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→ 통제 → 증거 순으로 간다.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914400" y="1102766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49" name="Shape 47"/>
          <p:cNvSpPr/>
          <p:nvPr/>
        </p:nvSpPr>
        <p:spPr>
          <a:xfrm>
            <a:off x="914400" y="1102766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50" name="Text 48"/>
          <p:cNvSpPr/>
          <p:nvPr/>
        </p:nvSpPr>
        <p:spPr>
          <a:xfrm>
            <a:off x="1298448" y="1117396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298448" y="1159459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12420752" y="1102766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53" name="Shape 51"/>
          <p:cNvSpPr/>
          <p:nvPr/>
        </p:nvSpPr>
        <p:spPr>
          <a:xfrm>
            <a:off x="12420752" y="1102766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4" name="Text 52"/>
          <p:cNvSpPr/>
          <p:nvPr/>
        </p:nvSpPr>
        <p:spPr>
          <a:xfrm>
            <a:off x="12804800" y="1117396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2804800" y="1159459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PRESENT-PLAN-01 확정 22장 순서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22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배경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온프레미스 보안 플랫폼인가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선정 배경 3점 카드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침해사례 placeholder와 기술 대체제 비교는 넣지 않는다.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우리가 해결하려 한 문제만 쓴다.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프로젝트가 필요했던 이유를 납득시킨다.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관리형에 가려지는 경계·신원·공급망을 직접 다뤄보기 위해 온프레미스를 선택했다.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PRESENT-PLAN-01(외부 침해사례·대체제 비교 제외 확정)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22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목표와 현실적 제약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하고 무엇을 하지 않았나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3항목 / 제약 3항목 2열 카드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물리 노드 SPOF, 사람 승인, 합성 복구 범위를 이 장에서 먼저 밝힌다.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과장 없는 범위를 미리 합의한다.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HA보다 격리·최소 권한·선언형 재구축·오프사이트 복구를 우선했고, 물리 SPOF는 허용한 제약이다.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docs/architecture.md 설계 기준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22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 Team 5인 구성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분담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5인 카드 (이름 · 역할)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고광근(PM·팀장·온프레미스 보안), 이진희, 박재윤, 박수근, 정주헌.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5명을 한 장에 둔다.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무엇을 맡았는지 한 번에 보여준다.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5인이 인프라·보안·애플리케이션 영역을 나눠 맡았다.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PRESENT-PLAN-01 팀 구성 확정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22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 간트 차트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 간트 (native 도형)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주차별 막대와 마일스톤. 이미지가 아니라 native 도형으로 그린다.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어떤 순서로 쌓았는지 보여준다.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 → 통제 → 공급망 → 검증 순으로 4주를 나눴다.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PRESENT-PLAN-01 간트·SWOT native 도형 확정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22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검증 시나리오 5개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세션 4는 HR System 가짜 릴리스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68880"/>
          <a:ext cx="2255550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0"/>
                <a:gridCol w="6949440"/>
                <a:gridCol w="5913425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시도하나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통제가 판정하나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촬영 상태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온프레미스 접근 경로 우회 시도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Pomerium · CrowdSec AppSec · NetworkPolicy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DEMO-ONPREM-01 완료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합성 포털·내부 API 대상 공격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CrowdSec · Falco 런타임 탐지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DEMO-ONPREM-01 완료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탐지에서 사람 승인까지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Wazuh → Shuffle 보강 → 사람 승인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DEMO-ONPREM-01 완료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HR System 가짜 릴리스 배포 시도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EKS Kyverno 공급망 admission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DEMO-AWS-HR-01 완료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합성 데이터 훼손 후 복구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GitOps 선언 복구 · Velero/Kopia 데이터 복구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DEMO-RECOVERY-01 완료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914400" y="786384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786384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3" name="Text 10"/>
          <p:cNvSpPr/>
          <p:nvPr/>
        </p:nvSpPr>
        <p:spPr>
          <a:xfrm>
            <a:off x="1298448" y="801014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98448" y="843076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시나리오가 서로 다른 통제를 검증한다는 것을 보여준다.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12420752" y="786384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3"/>
          <p:cNvSpPr/>
          <p:nvPr/>
        </p:nvSpPr>
        <p:spPr>
          <a:xfrm>
            <a:off x="12420752" y="786384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7" name="Text 14"/>
          <p:cNvSpPr/>
          <p:nvPr/>
        </p:nvSpPr>
        <p:spPr>
          <a:xfrm>
            <a:off x="12804800" y="801014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804800" y="843076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세션은 독립적으로 성립하되 하나의 침해 흐름으로 이어진다.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14400" y="97475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0" name="Shape 17"/>
          <p:cNvSpPr/>
          <p:nvPr/>
        </p:nvSpPr>
        <p:spPr>
          <a:xfrm>
            <a:off x="914400" y="974750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98938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98448" y="103144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표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12420752" y="97475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20752" y="974750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2804800" y="98938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2804800" y="103144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DEMO-PLAN-01 · DEMO-PLAN-02 · DEMO-ONPREM-01 · DEMO-AWS-HR-01 · DEMO-RECOVERY-01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22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 경계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대의 물리 노드에서 시작한다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22555505" cy="9692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371600" y="3017520"/>
            <a:ext cx="2164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· 승인된 16:9 아키텍처 이미지 (8~11장 동일 좌표)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737360" y="3566160"/>
            <a:ext cx="7863840" cy="4754880"/>
          </a:xfrm>
          <a:prstGeom prst="rect">
            <a:avLst/>
          </a:prstGeom>
          <a:solidFill>
            <a:srgbClr val="15E954">
              <a:alpha val="12000"/>
            </a:srgbClr>
          </a:solidFill>
          <a:ln w="38100">
            <a:solidFill>
              <a:srgbClr val="15E9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37360" y="55778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OPNsense · Proxmox 물리 경계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71600" y="11430000"/>
            <a:ext cx="216411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 레이어만 native 도형으로 바꾸고 이미지·좌표는 네 장이 공유한다.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  모든 것이 한 대의 물리 노드 위에 있다는 사실을 먼저 못 박는다.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21856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Text 16"/>
          <p:cNvSpPr/>
          <p:nvPr/>
        </p:nvSpPr>
        <p:spPr>
          <a:xfrm>
            <a:off x="6786448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  물리 노드·OPNsense·Proxmox는 허용한 SPOF다.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329312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0" name="Text 18"/>
          <p:cNvSpPr/>
          <p:nvPr/>
        </p:nvSpPr>
        <p:spPr>
          <a:xfrm>
            <a:off x="12493904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 승인 이미지 + green 강조 도형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036769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Text 20"/>
          <p:cNvSpPr/>
          <p:nvPr/>
        </p:nvSpPr>
        <p:spPr>
          <a:xfrm>
            <a:off x="18201361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 PVE-01 · NET-02 · NET-03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22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플랫폼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k3s와 전용 VM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22555505" cy="9692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371600" y="3017520"/>
            <a:ext cx="2164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· 승인된 16:9 아키텍처 이미지 (8~11장 동일 좌표)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011680" y="5029200"/>
            <a:ext cx="12252960" cy="5852160"/>
          </a:xfrm>
          <a:prstGeom prst="rect">
            <a:avLst/>
          </a:prstGeom>
          <a:solidFill>
            <a:srgbClr val="15E954">
              <a:alpha val="12000"/>
            </a:srgbClr>
          </a:solidFill>
          <a:ln w="38100">
            <a:solidFill>
              <a:srgbClr val="15E9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7589520"/>
            <a:ext cx="1225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k3s-01 · 전용 VM 4종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71600" y="11430000"/>
            <a:ext cx="216411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 레이어만 native 도형으로 바꾸고 이미지·좌표는 네 장이 공유한다.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  플랫폼 서비스가 어디에 어떻게 나뉘어 있는지 보여준다.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21856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Text 16"/>
          <p:cNvSpPr/>
          <p:nvPr/>
        </p:nvSpPr>
        <p:spPr>
          <a:xfrm>
            <a:off x="6786448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  VM 분리는 장애 도메인이 아니라 업데이트·권한·복구 단위를 나눈 것이다.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329312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0" name="Text 18"/>
          <p:cNvSpPr/>
          <p:nvPr/>
        </p:nvSpPr>
        <p:spPr>
          <a:xfrm>
            <a:off x="12493904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 승인 이미지 + green 강조 도형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036769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Text 20"/>
          <p:cNvSpPr/>
          <p:nvPr/>
        </p:nvSpPr>
        <p:spPr>
          <a:xfrm>
            <a:off x="18201361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 K3S-01 · PG-01 · S3-01 · WG-01 · NB-01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22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HR System 전체 워크로드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AWS 대표 워크로드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22555505" cy="9692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371600" y="3017520"/>
            <a:ext cx="2164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· 승인된 16:9 아키텍처 이미지 (8~11장 동일 좌표)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3533120" y="3931920"/>
            <a:ext cx="8961120" cy="6766560"/>
          </a:xfrm>
          <a:prstGeom prst="rect">
            <a:avLst/>
          </a:prstGeom>
          <a:solidFill>
            <a:srgbClr val="15E954">
              <a:alpha val="12000"/>
            </a:srgbClr>
          </a:solidFill>
          <a:ln w="38100">
            <a:solidFill>
              <a:srgbClr val="15E9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533120" y="694944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EKS · internal ALB · Aurora · IRSA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71600" y="11430000"/>
            <a:ext cx="216411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 레이어만 native 도형으로 바꾸고 이미지·좌표는 네 장이 공유한다.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  AWS 쪽 대표 워크로드의 전체 구조를 한 번에 보여준다.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21856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Text 16"/>
          <p:cNvSpPr/>
          <p:nvPr/>
        </p:nvSpPr>
        <p:spPr>
          <a:xfrm>
            <a:off x="6786448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  frontend·employee-service·hr-service가 internal ALB 뒤에서 Aurora를 쓰고, 권한은 IRSA와 Secrets Manager로 나뉜다.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329312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0" name="Text 18"/>
          <p:cNvSpPr/>
          <p:nvPr/>
        </p:nvSpPr>
        <p:spPr>
          <a:xfrm>
            <a:off x="12493904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 승인 이미지 + green 강조 도형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036769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Text 20"/>
          <p:cNvSpPr/>
          <p:nvPr/>
        </p:nvSpPr>
        <p:spPr>
          <a:xfrm>
            <a:off x="18201361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 AWS-HR-01 · AWS-DB-SEC-01 · QUALITY-04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22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온프레미스에서 EKS까지의 보안 흐름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Pomerium → S2S VPN → internal ALB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22555505" cy="9692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371600" y="3017520"/>
            <a:ext cx="2164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· 승인된 16:9 아키텍처 이미지 (8~11장 동일 좌표)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754880" y="5394960"/>
            <a:ext cx="14996160" cy="3291840"/>
          </a:xfrm>
          <a:prstGeom prst="rect">
            <a:avLst/>
          </a:prstGeom>
          <a:solidFill>
            <a:srgbClr val="15E954">
              <a:alpha val="12000"/>
            </a:srgbClr>
          </a:solidFill>
          <a:ln w="38100">
            <a:solidFill>
              <a:srgbClr val="15E9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6675120"/>
            <a:ext cx="1499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NetBird → Traefik → Pomerium → S2S VPN → ALB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71600" y="11430000"/>
            <a:ext cx="216411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 레이어만 native 도형으로 바꾸고 이미지·좌표는 네 장이 공유한다.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  사용자 요청이 어떤 경계를 차례로 통과하는지 따라가게 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21856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Text 16"/>
          <p:cNvSpPr/>
          <p:nvPr/>
        </p:nvSpPr>
        <p:spPr>
          <a:xfrm>
            <a:off x="6786448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  공개 진입은 두 곳뿐이고 HR 경로는 사설 VPN 안에서만 EKS에 닿는다.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329312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0" name="Text 18"/>
          <p:cNvSpPr/>
          <p:nvPr/>
        </p:nvSpPr>
        <p:spPr>
          <a:xfrm>
            <a:off x="12493904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  승인 이미지 + green 강조 도형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036769" y="12490704"/>
            <a:ext cx="5433136" cy="47548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Text 20"/>
          <p:cNvSpPr/>
          <p:nvPr/>
        </p:nvSpPr>
        <p:spPr>
          <a:xfrm>
            <a:off x="18201361" y="12490704"/>
            <a:ext cx="5103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 EDGE-01 · EDGE-02 · POM-01 · AWS-NET-01 · AWS-HR-01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22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통제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신원과 경로를 함께 본다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통제 계층 카드 (신원 · 경로 · 권한)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Keycloak 신원, Pomerium Route 판정, 애플리케이션 RBAC의 역할이 겹치지 않음을 보여준다.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누가·어디로·무엇을 할 수 있는지 결정하는 지점을 분리해 설명한다.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Dashy 타일 숨김은 편의일 뿐이고 실제 판정은 Route와 애플리케이션 RBAC가 한다.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KC-01 · IAM-01 · POM-01 · NB-ENROLL-01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22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HR 품질·공급망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 → Harbor → ECR → Kyverno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공급망 파이프라인 (native 도형 · 좌→우 흐름)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test·SonarQube gate · Trivy · Cosign 서명 · Harbor 승격 · ECR 복제 · Kyverno admission 순.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서명되지 않은 이미지는 이 흐름에서 배포까지 갈 수 없다.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코드가 배포되기까지 통과해야 하는 관문을 보여준다.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Harbor가 단일 승격 원본이고 ECR은 읽기 복제본이며 Kyverno가 마지막에 다시 판정한다.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CI-01 · QUALITY-03 · QUALITY-05 · SCAN-01 · SIGN-01 · SUPPLY-04 · SUPPLY-06 · SUPPLY-07 · SUPPLY-01-FIX-02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22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관측·탐지·사람 승인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차단은 쓰지 않는다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 → 보강 → 사람 승인 흐름 + 관측 3종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Suricata·CrowdSec·Falco → Wazuh → Shuffle → 사람 승인.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Prometheus·Grafana·Loki는 운영 관측으로 분리한다.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경보가 사람의 판단으로 이어지는 경로를 보여준다.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Suricata는 alert-only이고 Shuffle은 read-only 보강까지다. 차단과 대응은 사람이 결정한다.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NIDS-01 · FALCO-01 · WAZUH-01 · SOAR-01 · OBS-01 · LOKI-01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22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백업·복구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노드의 사본은 백업이 아니다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백업 대상 · 착지점 · 복구 경로 3열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Velero·PostgreSQL·Vault snapshot → SeaweedFS S3 → AWS S3.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break-glass 사본은 클러스터 밖에 둔다.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복구가 실제로 가능한 구조인지 보여준다.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오프사이트 AWS S3까지 가야 물리 장애와 분리된 사본이 된다.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BKP-04 · BKP-07 · BKP-09 · KMS-01 · DEMO-RECOVERY-01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22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배포·품질 증거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화면에서 읽히는 것만 쓴다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10957712" cy="5760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562856"/>
            <a:ext cx="1022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276088"/>
            <a:ext cx="1022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HR 포털 정상 상태 또는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Argo CD hr-system Synced/Healthy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375904"/>
            <a:ext cx="10957712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8375904"/>
            <a:ext cx="1040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판정: 선언과 라이브가 같다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2512192" y="2468880"/>
            <a:ext cx="10957712" cy="5760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2877952" y="4562856"/>
            <a:ext cx="1022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B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877952" y="5276088"/>
            <a:ext cx="1022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Jenkins test 결과 또는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SonarQube quality gate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512192" y="8375904"/>
            <a:ext cx="10957712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12786512" y="8375904"/>
            <a:ext cx="1040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판정: gate를 통과한 빌드만 승격된다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14400" y="92903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929030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2" name="Text 20"/>
          <p:cNvSpPr/>
          <p:nvPr/>
        </p:nvSpPr>
        <p:spPr>
          <a:xfrm>
            <a:off x="1298448" y="94366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98572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배포와 품질 주장을 실제 화면으로 뒷받침한다.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2420752" y="92903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5" name="Shape 23"/>
          <p:cNvSpPr/>
          <p:nvPr/>
        </p:nvSpPr>
        <p:spPr>
          <a:xfrm>
            <a:off x="12420752" y="929030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6" name="Text 24"/>
          <p:cNvSpPr/>
          <p:nvPr/>
        </p:nvSpPr>
        <p:spPr>
          <a:xfrm>
            <a:off x="12804800" y="94366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804800" y="98572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선언한 것과 돌아가는 것이 같다는 사실을 화면에서 직접 확인한다.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914400" y="11173968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11173968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30" name="Text 28"/>
          <p:cNvSpPr/>
          <p:nvPr/>
        </p:nvSpPr>
        <p:spPr>
          <a:xfrm>
            <a:off x="1298448" y="11320272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98448" y="11740896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마스킹한 실제 UI crop 2장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2420752" y="11173968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20752" y="11173968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2804800" y="11320272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804800" y="11740896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PRESENT-EVIDENCE-01 · AWS-HR-01 · QUALITY-05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22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운영·보안 증거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DENIED와 ALLOWED를 한 화면에서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10957712" cy="5760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562856"/>
            <a:ext cx="1022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276088"/>
            <a:ext cx="1022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EKS Kyverno dry-run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DENIED / ALLOWED 판정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375904"/>
            <a:ext cx="10957712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8375904"/>
            <a:ext cx="1040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판정: 미서명은 거부, 서명된 digest만 허용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2512192" y="2468880"/>
            <a:ext cx="10957712" cy="5760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2877952" y="4562856"/>
            <a:ext cx="1022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B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877952" y="5276088"/>
            <a:ext cx="1022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Grafana 운영 상태 또는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Wazuh 탐지 · Shuffle 사람 승인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512192" y="8375904"/>
            <a:ext cx="10957712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12786512" y="8375904"/>
            <a:ext cx="1040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판정: 탐지가 사람 승인으로 이어진다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14400" y="92903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929030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2" name="Text 20"/>
          <p:cNvSpPr/>
          <p:nvPr/>
        </p:nvSpPr>
        <p:spPr>
          <a:xfrm>
            <a:off x="1298448" y="94366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98572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공급망 admission과 탐지·대응 주장을 실제 화면으로 뒷받침한다.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2420752" y="92903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5" name="Shape 23"/>
          <p:cNvSpPr/>
          <p:nvPr/>
        </p:nvSpPr>
        <p:spPr>
          <a:xfrm>
            <a:off x="12420752" y="929030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6" name="Text 24"/>
          <p:cNvSpPr/>
          <p:nvPr/>
        </p:nvSpPr>
        <p:spPr>
          <a:xfrm>
            <a:off x="12804800" y="94366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804800" y="98572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정책이 실제로 배포를 막고, 경보는 사람의 승인 앞에서 멈춘다.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914400" y="11173968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11173968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30" name="Text 28"/>
          <p:cNvSpPr/>
          <p:nvPr/>
        </p:nvSpPr>
        <p:spPr>
          <a:xfrm>
            <a:off x="1298448" y="11320272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98448" y="11740896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마스킹한 실제 UI crop 2장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2420752" y="11173968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20752" y="11173968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2804800" y="11320272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804800" y="11740896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PRESENT-EVIDENCE-01 · DEMO-AWS-HR-01 · SOAR-01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22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결과 매트릭스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시나리오의 판정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68880"/>
          <a:ext cx="2255550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  <a:gridCol w="6766560"/>
                <a:gridCol w="6644945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기존 서비스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경로 우회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차단 — 결과는 촬영 증거로 채운다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영향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포털·API 공격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 — 결과는 촬영 증거로 채운다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영향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 → 대응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승인 대기 — 자동 대응 0건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영향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가짜 릴리스 배포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DENIED / 서명 digest는 ALLOWED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frontend·employee·hr-service Ready 불변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훼손 후 복구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선언 복구 + 데이터 복구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복구 후 정상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914400" y="786384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786384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3" name="Text 10"/>
          <p:cNvSpPr/>
          <p:nvPr/>
        </p:nvSpPr>
        <p:spPr>
          <a:xfrm>
            <a:off x="1298448" y="801014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98448" y="843076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시나리오의 결과를 한 장에서 대조한다.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12420752" y="786384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3"/>
          <p:cNvSpPr/>
          <p:nvPr/>
        </p:nvSpPr>
        <p:spPr>
          <a:xfrm>
            <a:off x="12420752" y="786384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7" name="Text 14"/>
          <p:cNvSpPr/>
          <p:nvPr/>
        </p:nvSpPr>
        <p:spPr>
          <a:xfrm>
            <a:off x="12804800" y="801014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804800" y="843076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막았다는 주장은 DENIED/ALLOWED 판정과 기존 서비스 정상 상태를 함께 보여야 성립한다.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14400" y="97475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0" name="Shape 17"/>
          <p:cNvSpPr/>
          <p:nvPr/>
        </p:nvSpPr>
        <p:spPr>
          <a:xfrm>
            <a:off x="914400" y="974750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98938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98448" y="103144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표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12420752" y="974750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20752" y="974750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2804800" y="989380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2804800" y="1031443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DEMO-AWS-HR-01(dry-run DENIED/ALLOWED · 기존 서비스 불변) · DEMO-RECOVERY-01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22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스스로 보는 강점과 한계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11003432" cy="30175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2743200"/>
            <a:ext cx="1008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Strength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3566160"/>
            <a:ext cx="1008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선언형 재구축과 공급망 서명 검증이 실제로 동작한다.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경계·신원·정책이 문서가 아니라 라이브에서 판정된다.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2466472" y="2468880"/>
            <a:ext cx="11003432" cy="30175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923672" y="2743200"/>
            <a:ext cx="1008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2923672" y="3566160"/>
            <a:ext cx="1008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 노드가 하나뿐이라 HA가 없다.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대응을 쓰지 않아 사람의 판단이 병목이 된다.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5943600"/>
            <a:ext cx="11003432" cy="30175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6217920"/>
            <a:ext cx="1008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Opportunity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371600" y="7040880"/>
            <a:ext cx="1008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물리 노드나 관리형 스위치가 생기면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도메인과 인벤토리 관리를 확장할 수 있다.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2466472" y="5943600"/>
            <a:ext cx="11003432" cy="30175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923672" y="6217920"/>
            <a:ext cx="1008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Threat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923672" y="7040880"/>
            <a:ext cx="1008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물리 장애와 외부 SaaS 의존이 남아 있다.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인력이 줄면 수동 대응 절차가 먼저 무너진다.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4400" y="914400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914400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4" name="Text 22"/>
          <p:cNvSpPr/>
          <p:nvPr/>
        </p:nvSpPr>
        <p:spPr>
          <a:xfrm>
            <a:off x="1298448" y="929030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98448" y="971092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한계를 먼저 인정해 나머지 주장의 신뢰를 지킨다.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12420752" y="914400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7" name="Shape 25"/>
          <p:cNvSpPr/>
          <p:nvPr/>
        </p:nvSpPr>
        <p:spPr>
          <a:xfrm>
            <a:off x="12420752" y="914400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4800" y="929030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804800" y="971092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HA를 포기한 대신 재구축과 복구 가능성을 확보했다.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914400" y="1102766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1" name="Shape 29"/>
          <p:cNvSpPr/>
          <p:nvPr/>
        </p:nvSpPr>
        <p:spPr>
          <a:xfrm>
            <a:off x="914400" y="1102766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32" name="Text 30"/>
          <p:cNvSpPr/>
          <p:nvPr/>
        </p:nvSpPr>
        <p:spPr>
          <a:xfrm>
            <a:off x="1298448" y="1117396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98448" y="1159459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2420752" y="1102766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35" name="Shape 33"/>
          <p:cNvSpPr/>
          <p:nvPr/>
        </p:nvSpPr>
        <p:spPr>
          <a:xfrm>
            <a:off x="12420752" y="1102766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6" name="Text 34"/>
          <p:cNvSpPr/>
          <p:nvPr/>
        </p:nvSpPr>
        <p:spPr>
          <a:xfrm>
            <a:off x="12804800" y="1117396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2804800" y="1159459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docs/architecture.md 의도적으로 유보한 것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22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4813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566928" cy="402336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"/>
            <a:ext cx="16886225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7983505" y="164592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909585" y="164592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spc="200" kern="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▶▶▶▶▶▶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007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00:30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0" y="1700784"/>
            <a:ext cx="2072670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확인했나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22555505" cy="6126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280160" y="4745736"/>
            <a:ext cx="21823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3문장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458968"/>
            <a:ext cx="21823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검증된 것만 쓴다. 다중 리전·자동 대응·전체 DR 성공은 주장하지 않는다.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PURPOSE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8448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전체를 한 문장으로 회수한다.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2420752" y="8961120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20752" y="8961120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4800" y="9107424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4800" y="9528048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물리 노드 랩에서도 경계·신원·공급망·복구를 실제 판정으로 확인할 수 있었다.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14400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10844784"/>
            <a:ext cx="146304" cy="1572768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98448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98448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도형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2420752" y="10844784"/>
            <a:ext cx="11049152" cy="157276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420752" y="10844784"/>
            <a:ext cx="146304" cy="1572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4800" y="10991088"/>
            <a:ext cx="1040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804800" y="11411712"/>
            <a:ext cx="102810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18장 결과 매트릭스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2929616"/>
            <a:ext cx="19812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온프레미스–AWS 하이브리드 보안 플랫폼 · Bean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726705" y="12929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22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3108960"/>
            <a:ext cx="1371600" cy="64008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4023360"/>
            <a:ext cx="2255550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914400" y="6583680"/>
            <a:ext cx="1524030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받습니다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8138160"/>
            <a:ext cx="22555505" cy="3108960"/>
          </a:xfrm>
          <a:prstGeom prst="rect">
            <a:avLst/>
          </a:prstGeom>
          <a:solidFill>
            <a:srgbClr val="111111"/>
          </a:solidFill>
          <a:ln w="19050">
            <a:solidFill>
              <a:srgbClr val="66666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463040" y="8503920"/>
            <a:ext cx="2145822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질문 준비 영역 — PRESENT-SCRIPT-01에서 채운다.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노드인데 왜 Kubernetes인가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차단을 쓰지 않는 이유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서명 검증이 실패하면 무엇이 멈추나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726705" y="1252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22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84305" cy="1371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3108960"/>
            <a:ext cx="1371600" cy="640080"/>
          </a:xfrm>
          <a:prstGeom prst="rect">
            <a:avLst/>
          </a:prstGeom>
          <a:solidFill>
            <a:srgbClr val="15E95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4023360"/>
            <a:ext cx="2255550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 you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914400" y="6583680"/>
            <a:ext cx="1524030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5E9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Bean · 온프레미스–AWS 하이브리드 보안 플랫폼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726705" y="1252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22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Bean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온프레미스–AWS 하이브리드 보안 플랫폼</dc:title>
  <dc:subject>PptxGenJS Presentation</dc:subject>
  <dc:creator>Bean</dc:creator>
  <cp:lastModifiedBy>Bean</cp:lastModifiedBy>
  <cp:revision>1</cp:revision>
  <dcterms:created xsi:type="dcterms:W3CDTF">2026-08-16T10:51:39Z</dcterms:created>
  <dcterms:modified xsi:type="dcterms:W3CDTF">2026-08-16T10:51:39Z</dcterms:modified>
</cp:coreProperties>
</file>